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6"/>
  </p:notesMasterIdLst>
  <p:sldIdLst>
    <p:sldId id="256" r:id="rId2"/>
    <p:sldId id="258" r:id="rId3"/>
    <p:sldId id="259" r:id="rId4"/>
    <p:sldId id="257" r:id="rId5"/>
  </p:sldIdLst>
  <p:sldSz cx="12192000" cy="6858000"/>
  <p:notesSz cx="6858000" cy="12192000"/>
  <p:embeddedFontLst>
    <p:embeddedFont>
      <p:font typeface="Inter" panose="020B0604020202020204" charset="0"/>
      <p:regular r:id="rId7"/>
      <p:bold r:id="rId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6ECAF1-C6D1-4E40-BA33-E5ED15885C87}"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LID4096"/>
        </a:p>
      </dgm:t>
    </dgm:pt>
    <dgm:pt modelId="{E49413AB-8B9F-41AD-B1A7-2DC53973420E}">
      <dgm:prSet phldrT="[Text]" custT="1"/>
      <dgm:spPr/>
      <dgm:t>
        <a:bodyPr/>
        <a:lstStyle/>
        <a:p>
          <a:r>
            <a:rPr lang="de-CH" sz="1500" dirty="0"/>
            <a:t>1. Dialogue</a:t>
          </a:r>
          <a:br>
            <a:rPr lang="de-CH" sz="1500" dirty="0"/>
          </a:br>
          <a:r>
            <a:rPr lang="de-CH" sz="1000" dirty="0"/>
            <a:t>Practitioner and Agent talk to each other</a:t>
          </a:r>
          <a:endParaRPr lang="LID4096" sz="1000" dirty="0"/>
        </a:p>
      </dgm:t>
    </dgm:pt>
    <dgm:pt modelId="{8EF39870-1738-4E52-96B9-A180C572B959}" type="parTrans" cxnId="{BE09C540-75A6-410C-A287-0AA85A9D0F40}">
      <dgm:prSet/>
      <dgm:spPr/>
      <dgm:t>
        <a:bodyPr/>
        <a:lstStyle/>
        <a:p>
          <a:endParaRPr lang="LID4096"/>
        </a:p>
      </dgm:t>
    </dgm:pt>
    <dgm:pt modelId="{72C7466D-2C28-4729-A2CF-F3B14B2A36B5}" type="sibTrans" cxnId="{BE09C540-75A6-410C-A287-0AA85A9D0F40}">
      <dgm:prSet/>
      <dgm:spPr/>
      <dgm:t>
        <a:bodyPr/>
        <a:lstStyle/>
        <a:p>
          <a:endParaRPr lang="LID4096"/>
        </a:p>
      </dgm:t>
    </dgm:pt>
    <dgm:pt modelId="{9E24C90D-57A9-4C67-A3B1-00A8FB44D0A3}">
      <dgm:prSet phldrT="[Text]" custT="1"/>
      <dgm:spPr/>
      <dgm:t>
        <a:bodyPr/>
        <a:lstStyle/>
        <a:p>
          <a:r>
            <a:rPr lang="de-CH" sz="1500" dirty="0"/>
            <a:t>2. Tacit Externalisation</a:t>
          </a:r>
          <a:br>
            <a:rPr lang="de-CH" sz="1800" dirty="0"/>
          </a:br>
          <a:r>
            <a:rPr lang="de-CH" sz="1000" dirty="0"/>
            <a:t>Agent creates system-prompt patch proposals</a:t>
          </a:r>
          <a:endParaRPr lang="LID4096" sz="1000" dirty="0"/>
        </a:p>
      </dgm:t>
    </dgm:pt>
    <dgm:pt modelId="{FF272178-E9E9-44CD-BC67-B5805CEF15F2}" type="parTrans" cxnId="{D9766166-BC52-4CCA-A292-77982D462EE5}">
      <dgm:prSet/>
      <dgm:spPr/>
      <dgm:t>
        <a:bodyPr/>
        <a:lstStyle/>
        <a:p>
          <a:endParaRPr lang="LID4096"/>
        </a:p>
      </dgm:t>
    </dgm:pt>
    <dgm:pt modelId="{C426EBB7-8C03-4FB5-A5BE-9FFABBA72C19}" type="sibTrans" cxnId="{D9766166-BC52-4CCA-A292-77982D462EE5}">
      <dgm:prSet/>
      <dgm:spPr/>
      <dgm:t>
        <a:bodyPr/>
        <a:lstStyle/>
        <a:p>
          <a:endParaRPr lang="LID4096"/>
        </a:p>
      </dgm:t>
    </dgm:pt>
    <dgm:pt modelId="{32BC7E20-A98C-41AD-8095-D42D575E5AA8}">
      <dgm:prSet phldrT="[Text]" custT="1"/>
      <dgm:spPr/>
      <dgm:t>
        <a:bodyPr/>
        <a:lstStyle/>
        <a:p>
          <a:r>
            <a:rPr lang="de-CH" sz="1500" dirty="0"/>
            <a:t>3. Review &amp; Approval</a:t>
          </a:r>
          <a:br>
            <a:rPr lang="de-CH" sz="1900" dirty="0"/>
          </a:br>
          <a:r>
            <a:rPr lang="de-CH" sz="1000" dirty="0"/>
            <a:t>Human reviews and approves/ rejects system-prompt patches</a:t>
          </a:r>
          <a:endParaRPr lang="LID4096" sz="1000" dirty="0"/>
        </a:p>
      </dgm:t>
    </dgm:pt>
    <dgm:pt modelId="{000010A8-60A4-4103-9FC4-CDFBA5E033ED}" type="parTrans" cxnId="{23AE75E7-C4A1-4862-8130-82C0755C7389}">
      <dgm:prSet/>
      <dgm:spPr/>
      <dgm:t>
        <a:bodyPr/>
        <a:lstStyle/>
        <a:p>
          <a:endParaRPr lang="LID4096"/>
        </a:p>
      </dgm:t>
    </dgm:pt>
    <dgm:pt modelId="{A7488A1B-097D-4D4F-9555-E51380834F7E}" type="sibTrans" cxnId="{23AE75E7-C4A1-4862-8130-82C0755C7389}">
      <dgm:prSet/>
      <dgm:spPr/>
      <dgm:t>
        <a:bodyPr/>
        <a:lstStyle/>
        <a:p>
          <a:endParaRPr lang="LID4096"/>
        </a:p>
      </dgm:t>
    </dgm:pt>
    <dgm:pt modelId="{956C3185-B26C-4935-98B0-78B663B4FA28}">
      <dgm:prSet phldrT="[Text]" custT="1"/>
      <dgm:spPr/>
      <dgm:t>
        <a:bodyPr/>
        <a:lstStyle/>
        <a:p>
          <a:r>
            <a:rPr lang="de-CH" sz="1500" dirty="0"/>
            <a:t>4. Patch Agent</a:t>
          </a:r>
          <a:br>
            <a:rPr lang="de-CH" sz="1500" dirty="0"/>
          </a:br>
          <a:r>
            <a:rPr lang="de-CH" sz="1000" dirty="0"/>
            <a:t>Patch system-prompt and update behaviour</a:t>
          </a:r>
          <a:endParaRPr lang="LID4096" sz="1000" dirty="0"/>
        </a:p>
      </dgm:t>
    </dgm:pt>
    <dgm:pt modelId="{3DD85198-D0B6-4B8A-A4E9-7BF441412BE6}" type="parTrans" cxnId="{96F732F8-6B1E-414F-8541-B75DACB13EC2}">
      <dgm:prSet/>
      <dgm:spPr/>
      <dgm:t>
        <a:bodyPr/>
        <a:lstStyle/>
        <a:p>
          <a:endParaRPr lang="LID4096"/>
        </a:p>
      </dgm:t>
    </dgm:pt>
    <dgm:pt modelId="{448997A4-0148-496D-8F5C-376FB2CF27EC}" type="sibTrans" cxnId="{96F732F8-6B1E-414F-8541-B75DACB13EC2}">
      <dgm:prSet/>
      <dgm:spPr/>
      <dgm:t>
        <a:bodyPr/>
        <a:lstStyle/>
        <a:p>
          <a:endParaRPr lang="LID4096"/>
        </a:p>
      </dgm:t>
    </dgm:pt>
    <dgm:pt modelId="{99EC0680-C701-407C-AB19-59674F805775}" type="pres">
      <dgm:prSet presAssocID="{AB6ECAF1-C6D1-4E40-BA33-E5ED15885C87}" presName="cycle" presStyleCnt="0">
        <dgm:presLayoutVars>
          <dgm:dir/>
          <dgm:resizeHandles val="exact"/>
        </dgm:presLayoutVars>
      </dgm:prSet>
      <dgm:spPr/>
    </dgm:pt>
    <dgm:pt modelId="{5C928B51-D784-4109-98C1-A90DE0109B02}" type="pres">
      <dgm:prSet presAssocID="{E49413AB-8B9F-41AD-B1A7-2DC53973420E}" presName="node" presStyleLbl="node1" presStyleIdx="0" presStyleCnt="4">
        <dgm:presLayoutVars>
          <dgm:bulletEnabled val="1"/>
        </dgm:presLayoutVars>
      </dgm:prSet>
      <dgm:spPr/>
    </dgm:pt>
    <dgm:pt modelId="{86337306-2615-4282-AC5E-A565EE32E597}" type="pres">
      <dgm:prSet presAssocID="{E49413AB-8B9F-41AD-B1A7-2DC53973420E}" presName="spNode" presStyleCnt="0"/>
      <dgm:spPr/>
    </dgm:pt>
    <dgm:pt modelId="{CB0B31EC-3C34-4930-AA61-CD2346D9E785}" type="pres">
      <dgm:prSet presAssocID="{72C7466D-2C28-4729-A2CF-F3B14B2A36B5}" presName="sibTrans" presStyleLbl="sibTrans1D1" presStyleIdx="0" presStyleCnt="4"/>
      <dgm:spPr/>
    </dgm:pt>
    <dgm:pt modelId="{F5BCC165-3F5C-44BD-A46A-090A642AEC41}" type="pres">
      <dgm:prSet presAssocID="{9E24C90D-57A9-4C67-A3B1-00A8FB44D0A3}" presName="node" presStyleLbl="node1" presStyleIdx="1" presStyleCnt="4">
        <dgm:presLayoutVars>
          <dgm:bulletEnabled val="1"/>
        </dgm:presLayoutVars>
      </dgm:prSet>
      <dgm:spPr/>
    </dgm:pt>
    <dgm:pt modelId="{35F32F3E-50E6-43A7-A16B-9437AE138457}" type="pres">
      <dgm:prSet presAssocID="{9E24C90D-57A9-4C67-A3B1-00A8FB44D0A3}" presName="spNode" presStyleCnt="0"/>
      <dgm:spPr/>
    </dgm:pt>
    <dgm:pt modelId="{02606747-CA80-4D60-B89D-6DEE23F94815}" type="pres">
      <dgm:prSet presAssocID="{C426EBB7-8C03-4FB5-A5BE-9FFABBA72C19}" presName="sibTrans" presStyleLbl="sibTrans1D1" presStyleIdx="1" presStyleCnt="4"/>
      <dgm:spPr/>
    </dgm:pt>
    <dgm:pt modelId="{5BDA8EF6-6783-42BA-9194-37D7CDA6C554}" type="pres">
      <dgm:prSet presAssocID="{32BC7E20-A98C-41AD-8095-D42D575E5AA8}" presName="node" presStyleLbl="node1" presStyleIdx="2" presStyleCnt="4">
        <dgm:presLayoutVars>
          <dgm:bulletEnabled val="1"/>
        </dgm:presLayoutVars>
      </dgm:prSet>
      <dgm:spPr/>
    </dgm:pt>
    <dgm:pt modelId="{EEA41B6C-801A-4B94-BE29-034161FA4B82}" type="pres">
      <dgm:prSet presAssocID="{32BC7E20-A98C-41AD-8095-D42D575E5AA8}" presName="spNode" presStyleCnt="0"/>
      <dgm:spPr/>
    </dgm:pt>
    <dgm:pt modelId="{D98506FB-C26A-4BDE-8C6D-12CDB9C241E2}" type="pres">
      <dgm:prSet presAssocID="{A7488A1B-097D-4D4F-9555-E51380834F7E}" presName="sibTrans" presStyleLbl="sibTrans1D1" presStyleIdx="2" presStyleCnt="4"/>
      <dgm:spPr/>
    </dgm:pt>
    <dgm:pt modelId="{6C0CF9A6-D3BC-4B34-9197-5C0CC14BC4DC}" type="pres">
      <dgm:prSet presAssocID="{956C3185-B26C-4935-98B0-78B663B4FA28}" presName="node" presStyleLbl="node1" presStyleIdx="3" presStyleCnt="4">
        <dgm:presLayoutVars>
          <dgm:bulletEnabled val="1"/>
        </dgm:presLayoutVars>
      </dgm:prSet>
      <dgm:spPr/>
    </dgm:pt>
    <dgm:pt modelId="{023776B9-AA28-4366-906B-7D2D9A272DCA}" type="pres">
      <dgm:prSet presAssocID="{956C3185-B26C-4935-98B0-78B663B4FA28}" presName="spNode" presStyleCnt="0"/>
      <dgm:spPr/>
    </dgm:pt>
    <dgm:pt modelId="{1D6BDCAE-6AC7-4594-AD2E-8FB612290540}" type="pres">
      <dgm:prSet presAssocID="{448997A4-0148-496D-8F5C-376FB2CF27EC}" presName="sibTrans" presStyleLbl="sibTrans1D1" presStyleIdx="3" presStyleCnt="4"/>
      <dgm:spPr/>
    </dgm:pt>
  </dgm:ptLst>
  <dgm:cxnLst>
    <dgm:cxn modelId="{E3E5C015-BE4D-4D64-935A-903194F56AD3}" type="presOf" srcId="{32BC7E20-A98C-41AD-8095-D42D575E5AA8}" destId="{5BDA8EF6-6783-42BA-9194-37D7CDA6C554}" srcOrd="0" destOrd="0" presId="urn:microsoft.com/office/officeart/2005/8/layout/cycle5"/>
    <dgm:cxn modelId="{BE09C540-75A6-410C-A287-0AA85A9D0F40}" srcId="{AB6ECAF1-C6D1-4E40-BA33-E5ED15885C87}" destId="{E49413AB-8B9F-41AD-B1A7-2DC53973420E}" srcOrd="0" destOrd="0" parTransId="{8EF39870-1738-4E52-96B9-A180C572B959}" sibTransId="{72C7466D-2C28-4729-A2CF-F3B14B2A36B5}"/>
    <dgm:cxn modelId="{D9766166-BC52-4CCA-A292-77982D462EE5}" srcId="{AB6ECAF1-C6D1-4E40-BA33-E5ED15885C87}" destId="{9E24C90D-57A9-4C67-A3B1-00A8FB44D0A3}" srcOrd="1" destOrd="0" parTransId="{FF272178-E9E9-44CD-BC67-B5805CEF15F2}" sibTransId="{C426EBB7-8C03-4FB5-A5BE-9FFABBA72C19}"/>
    <dgm:cxn modelId="{F64DBD6C-6693-4010-AA15-EA200FDCAD5E}" type="presOf" srcId="{E49413AB-8B9F-41AD-B1A7-2DC53973420E}" destId="{5C928B51-D784-4109-98C1-A90DE0109B02}" srcOrd="0" destOrd="0" presId="urn:microsoft.com/office/officeart/2005/8/layout/cycle5"/>
    <dgm:cxn modelId="{6E95DB70-4F60-4AB7-97CE-3DB09B0BB8AC}" type="presOf" srcId="{448997A4-0148-496D-8F5C-376FB2CF27EC}" destId="{1D6BDCAE-6AC7-4594-AD2E-8FB612290540}" srcOrd="0" destOrd="0" presId="urn:microsoft.com/office/officeart/2005/8/layout/cycle5"/>
    <dgm:cxn modelId="{A82D6E51-CAFE-492B-92F3-7DC662B5B659}" type="presOf" srcId="{72C7466D-2C28-4729-A2CF-F3B14B2A36B5}" destId="{CB0B31EC-3C34-4930-AA61-CD2346D9E785}" srcOrd="0" destOrd="0" presId="urn:microsoft.com/office/officeart/2005/8/layout/cycle5"/>
    <dgm:cxn modelId="{22B14B8A-5025-4826-AFF3-7BDE0509DF74}" type="presOf" srcId="{956C3185-B26C-4935-98B0-78B663B4FA28}" destId="{6C0CF9A6-D3BC-4B34-9197-5C0CC14BC4DC}" srcOrd="0" destOrd="0" presId="urn:microsoft.com/office/officeart/2005/8/layout/cycle5"/>
    <dgm:cxn modelId="{5F0DC5B0-AD32-473D-AFC8-4C2082A89FF9}" type="presOf" srcId="{9E24C90D-57A9-4C67-A3B1-00A8FB44D0A3}" destId="{F5BCC165-3F5C-44BD-A46A-090A642AEC41}" srcOrd="0" destOrd="0" presId="urn:microsoft.com/office/officeart/2005/8/layout/cycle5"/>
    <dgm:cxn modelId="{0FB93EC9-8D2E-4ABC-8FE4-8A51FFC2E523}" type="presOf" srcId="{A7488A1B-097D-4D4F-9555-E51380834F7E}" destId="{D98506FB-C26A-4BDE-8C6D-12CDB9C241E2}" srcOrd="0" destOrd="0" presId="urn:microsoft.com/office/officeart/2005/8/layout/cycle5"/>
    <dgm:cxn modelId="{67FABCD1-2CD7-439C-BA03-44E76DEF5E51}" type="presOf" srcId="{AB6ECAF1-C6D1-4E40-BA33-E5ED15885C87}" destId="{99EC0680-C701-407C-AB19-59674F805775}" srcOrd="0" destOrd="0" presId="urn:microsoft.com/office/officeart/2005/8/layout/cycle5"/>
    <dgm:cxn modelId="{E8E835E7-456B-40C9-86A7-494A76EC1EDA}" type="presOf" srcId="{C426EBB7-8C03-4FB5-A5BE-9FFABBA72C19}" destId="{02606747-CA80-4D60-B89D-6DEE23F94815}" srcOrd="0" destOrd="0" presId="urn:microsoft.com/office/officeart/2005/8/layout/cycle5"/>
    <dgm:cxn modelId="{23AE75E7-C4A1-4862-8130-82C0755C7389}" srcId="{AB6ECAF1-C6D1-4E40-BA33-E5ED15885C87}" destId="{32BC7E20-A98C-41AD-8095-D42D575E5AA8}" srcOrd="2" destOrd="0" parTransId="{000010A8-60A4-4103-9FC4-CDFBA5E033ED}" sibTransId="{A7488A1B-097D-4D4F-9555-E51380834F7E}"/>
    <dgm:cxn modelId="{96F732F8-6B1E-414F-8541-B75DACB13EC2}" srcId="{AB6ECAF1-C6D1-4E40-BA33-E5ED15885C87}" destId="{956C3185-B26C-4935-98B0-78B663B4FA28}" srcOrd="3" destOrd="0" parTransId="{3DD85198-D0B6-4B8A-A4E9-7BF441412BE6}" sibTransId="{448997A4-0148-496D-8F5C-376FB2CF27EC}"/>
    <dgm:cxn modelId="{28501A39-2BC3-4AE1-BF9D-6023A0992BFF}" type="presParOf" srcId="{99EC0680-C701-407C-AB19-59674F805775}" destId="{5C928B51-D784-4109-98C1-A90DE0109B02}" srcOrd="0" destOrd="0" presId="urn:microsoft.com/office/officeart/2005/8/layout/cycle5"/>
    <dgm:cxn modelId="{2973E791-9D21-483A-AB2C-5BBC92B228C4}" type="presParOf" srcId="{99EC0680-C701-407C-AB19-59674F805775}" destId="{86337306-2615-4282-AC5E-A565EE32E597}" srcOrd="1" destOrd="0" presId="urn:microsoft.com/office/officeart/2005/8/layout/cycle5"/>
    <dgm:cxn modelId="{6ECE40AA-26E7-44FE-8480-8B304FA69798}" type="presParOf" srcId="{99EC0680-C701-407C-AB19-59674F805775}" destId="{CB0B31EC-3C34-4930-AA61-CD2346D9E785}" srcOrd="2" destOrd="0" presId="urn:microsoft.com/office/officeart/2005/8/layout/cycle5"/>
    <dgm:cxn modelId="{466DB520-CAAE-4890-9DD2-A966A5D5C539}" type="presParOf" srcId="{99EC0680-C701-407C-AB19-59674F805775}" destId="{F5BCC165-3F5C-44BD-A46A-090A642AEC41}" srcOrd="3" destOrd="0" presId="urn:microsoft.com/office/officeart/2005/8/layout/cycle5"/>
    <dgm:cxn modelId="{78202BED-CA77-43B4-8BFC-2ECE3967DDD9}" type="presParOf" srcId="{99EC0680-C701-407C-AB19-59674F805775}" destId="{35F32F3E-50E6-43A7-A16B-9437AE138457}" srcOrd="4" destOrd="0" presId="urn:microsoft.com/office/officeart/2005/8/layout/cycle5"/>
    <dgm:cxn modelId="{1F9D3753-8BCC-4B9B-8AFE-3610BADEFFDD}" type="presParOf" srcId="{99EC0680-C701-407C-AB19-59674F805775}" destId="{02606747-CA80-4D60-B89D-6DEE23F94815}" srcOrd="5" destOrd="0" presId="urn:microsoft.com/office/officeart/2005/8/layout/cycle5"/>
    <dgm:cxn modelId="{F380C5E1-E689-4B64-A25B-31733C2E3E1B}" type="presParOf" srcId="{99EC0680-C701-407C-AB19-59674F805775}" destId="{5BDA8EF6-6783-42BA-9194-37D7CDA6C554}" srcOrd="6" destOrd="0" presId="urn:microsoft.com/office/officeart/2005/8/layout/cycle5"/>
    <dgm:cxn modelId="{F5272721-E86A-4C5E-814A-B1EED4180533}" type="presParOf" srcId="{99EC0680-C701-407C-AB19-59674F805775}" destId="{EEA41B6C-801A-4B94-BE29-034161FA4B82}" srcOrd="7" destOrd="0" presId="urn:microsoft.com/office/officeart/2005/8/layout/cycle5"/>
    <dgm:cxn modelId="{BE749D41-981A-497E-9283-7D65505591C3}" type="presParOf" srcId="{99EC0680-C701-407C-AB19-59674F805775}" destId="{D98506FB-C26A-4BDE-8C6D-12CDB9C241E2}" srcOrd="8" destOrd="0" presId="urn:microsoft.com/office/officeart/2005/8/layout/cycle5"/>
    <dgm:cxn modelId="{F3806816-1084-4459-ABB7-EF0E4CA98D20}" type="presParOf" srcId="{99EC0680-C701-407C-AB19-59674F805775}" destId="{6C0CF9A6-D3BC-4B34-9197-5C0CC14BC4DC}" srcOrd="9" destOrd="0" presId="urn:microsoft.com/office/officeart/2005/8/layout/cycle5"/>
    <dgm:cxn modelId="{E44C40A8-6F89-43CF-8789-F840B13A4257}" type="presParOf" srcId="{99EC0680-C701-407C-AB19-59674F805775}" destId="{023776B9-AA28-4366-906B-7D2D9A272DCA}" srcOrd="10" destOrd="0" presId="urn:microsoft.com/office/officeart/2005/8/layout/cycle5"/>
    <dgm:cxn modelId="{46BA971B-5B5C-4FB5-A5E0-A0A12A2F8DB1}" type="presParOf" srcId="{99EC0680-C701-407C-AB19-59674F805775}" destId="{1D6BDCAE-6AC7-4594-AD2E-8FB612290540}" srcOrd="11" destOrd="0" presId="urn:microsoft.com/office/officeart/2005/8/layout/cycle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928B51-D784-4109-98C1-A90DE0109B02}">
      <dsp:nvSpPr>
        <dsp:cNvPr id="0" name=""/>
        <dsp:cNvSpPr/>
      </dsp:nvSpPr>
      <dsp:spPr>
        <a:xfrm>
          <a:off x="2008902" y="2157"/>
          <a:ext cx="1621992" cy="10542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de-CH" sz="1500" kern="1200" dirty="0"/>
            <a:t>1. Dialogue</a:t>
          </a:r>
          <a:br>
            <a:rPr lang="de-CH" sz="1500" kern="1200" dirty="0"/>
          </a:br>
          <a:r>
            <a:rPr lang="de-CH" sz="1000" kern="1200" dirty="0"/>
            <a:t>Practitioner and Agent talk to each other</a:t>
          </a:r>
          <a:endParaRPr lang="LID4096" sz="1000" kern="1200" dirty="0"/>
        </a:p>
      </dsp:txBody>
      <dsp:txXfrm>
        <a:off x="2060368" y="53623"/>
        <a:ext cx="1519060" cy="951363"/>
      </dsp:txXfrm>
    </dsp:sp>
    <dsp:sp modelId="{CB0B31EC-3C34-4930-AA61-CD2346D9E785}">
      <dsp:nvSpPr>
        <dsp:cNvPr id="0" name=""/>
        <dsp:cNvSpPr/>
      </dsp:nvSpPr>
      <dsp:spPr>
        <a:xfrm>
          <a:off x="1078552" y="529305"/>
          <a:ext cx="3482693" cy="3482693"/>
        </a:xfrm>
        <a:custGeom>
          <a:avLst/>
          <a:gdLst/>
          <a:ahLst/>
          <a:cxnLst/>
          <a:rect l="0" t="0" r="0" b="0"/>
          <a:pathLst>
            <a:path>
              <a:moveTo>
                <a:pt x="2776109" y="340791"/>
              </a:moveTo>
              <a:arcTo wR="1741346" hR="1741346" stAng="18387472" swAng="163322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F5BCC165-3F5C-44BD-A46A-090A642AEC41}">
      <dsp:nvSpPr>
        <dsp:cNvPr id="0" name=""/>
        <dsp:cNvSpPr/>
      </dsp:nvSpPr>
      <dsp:spPr>
        <a:xfrm>
          <a:off x="3750249" y="1743504"/>
          <a:ext cx="1621992" cy="10542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de-CH" sz="1500" kern="1200" dirty="0"/>
            <a:t>2. Tacit Externalisation</a:t>
          </a:r>
          <a:br>
            <a:rPr lang="de-CH" sz="1800" kern="1200" dirty="0"/>
          </a:br>
          <a:r>
            <a:rPr lang="de-CH" sz="1000" kern="1200" dirty="0"/>
            <a:t>Agent creates system-prompt patch proposals</a:t>
          </a:r>
          <a:endParaRPr lang="LID4096" sz="1000" kern="1200" dirty="0"/>
        </a:p>
      </dsp:txBody>
      <dsp:txXfrm>
        <a:off x="3801715" y="1794970"/>
        <a:ext cx="1519060" cy="951363"/>
      </dsp:txXfrm>
    </dsp:sp>
    <dsp:sp modelId="{02606747-CA80-4D60-B89D-6DEE23F94815}">
      <dsp:nvSpPr>
        <dsp:cNvPr id="0" name=""/>
        <dsp:cNvSpPr/>
      </dsp:nvSpPr>
      <dsp:spPr>
        <a:xfrm>
          <a:off x="1078552" y="529305"/>
          <a:ext cx="3482693" cy="3482693"/>
        </a:xfrm>
        <a:custGeom>
          <a:avLst/>
          <a:gdLst/>
          <a:ahLst/>
          <a:cxnLst/>
          <a:rect l="0" t="0" r="0" b="0"/>
          <a:pathLst>
            <a:path>
              <a:moveTo>
                <a:pt x="3302147" y="2513479"/>
              </a:moveTo>
              <a:arcTo wR="1741346" hR="1741346" stAng="1579303" swAng="163322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5BDA8EF6-6783-42BA-9194-37D7CDA6C554}">
      <dsp:nvSpPr>
        <dsp:cNvPr id="0" name=""/>
        <dsp:cNvSpPr/>
      </dsp:nvSpPr>
      <dsp:spPr>
        <a:xfrm>
          <a:off x="2008902" y="3484851"/>
          <a:ext cx="1621992" cy="10542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de-CH" sz="1500" kern="1200" dirty="0"/>
            <a:t>3. Review &amp; Approval</a:t>
          </a:r>
          <a:br>
            <a:rPr lang="de-CH" sz="1900" kern="1200" dirty="0"/>
          </a:br>
          <a:r>
            <a:rPr lang="de-CH" sz="1000" kern="1200" dirty="0"/>
            <a:t>Human reviews and approves/ rejects system-prompt patches</a:t>
          </a:r>
          <a:endParaRPr lang="LID4096" sz="1000" kern="1200" dirty="0"/>
        </a:p>
      </dsp:txBody>
      <dsp:txXfrm>
        <a:off x="2060368" y="3536317"/>
        <a:ext cx="1519060" cy="951363"/>
      </dsp:txXfrm>
    </dsp:sp>
    <dsp:sp modelId="{D98506FB-C26A-4BDE-8C6D-12CDB9C241E2}">
      <dsp:nvSpPr>
        <dsp:cNvPr id="0" name=""/>
        <dsp:cNvSpPr/>
      </dsp:nvSpPr>
      <dsp:spPr>
        <a:xfrm>
          <a:off x="1078552" y="529305"/>
          <a:ext cx="3482693" cy="3482693"/>
        </a:xfrm>
        <a:custGeom>
          <a:avLst/>
          <a:gdLst/>
          <a:ahLst/>
          <a:cxnLst/>
          <a:rect l="0" t="0" r="0" b="0"/>
          <a:pathLst>
            <a:path>
              <a:moveTo>
                <a:pt x="706583" y="3141901"/>
              </a:moveTo>
              <a:arcTo wR="1741346" hR="1741346" stAng="7587472" swAng="163322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6C0CF9A6-D3BC-4B34-9197-5C0CC14BC4DC}">
      <dsp:nvSpPr>
        <dsp:cNvPr id="0" name=""/>
        <dsp:cNvSpPr/>
      </dsp:nvSpPr>
      <dsp:spPr>
        <a:xfrm>
          <a:off x="267555" y="1743504"/>
          <a:ext cx="1621992" cy="10542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de-CH" sz="1500" kern="1200" dirty="0"/>
            <a:t>4. Patch Agent</a:t>
          </a:r>
          <a:br>
            <a:rPr lang="de-CH" sz="1500" kern="1200" dirty="0"/>
          </a:br>
          <a:r>
            <a:rPr lang="de-CH" sz="1000" kern="1200" dirty="0"/>
            <a:t>Patch system-prompt and update behaviour</a:t>
          </a:r>
          <a:endParaRPr lang="LID4096" sz="1000" kern="1200" dirty="0"/>
        </a:p>
      </dsp:txBody>
      <dsp:txXfrm>
        <a:off x="319021" y="1794970"/>
        <a:ext cx="1519060" cy="951363"/>
      </dsp:txXfrm>
    </dsp:sp>
    <dsp:sp modelId="{1D6BDCAE-6AC7-4594-AD2E-8FB612290540}">
      <dsp:nvSpPr>
        <dsp:cNvPr id="0" name=""/>
        <dsp:cNvSpPr/>
      </dsp:nvSpPr>
      <dsp:spPr>
        <a:xfrm>
          <a:off x="1078552" y="529305"/>
          <a:ext cx="3482693" cy="3482693"/>
        </a:xfrm>
        <a:custGeom>
          <a:avLst/>
          <a:gdLst/>
          <a:ahLst/>
          <a:cxnLst/>
          <a:rect l="0" t="0" r="0" b="0"/>
          <a:pathLst>
            <a:path>
              <a:moveTo>
                <a:pt x="180545" y="969214"/>
              </a:moveTo>
              <a:arcTo wR="1741346" hR="1741346" stAng="12379303" swAng="163322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9246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02537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69331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sv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21.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image" Target="../media/image23.png"/><Relationship Id="rId12"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diagramQuickStyle" Target="../diagrams/quickStyle1.xml"/><Relationship Id="rId5" Type="http://schemas.openxmlformats.org/officeDocument/2006/relationships/image" Target="../media/image3.png"/><Relationship Id="rId10" Type="http://schemas.openxmlformats.org/officeDocument/2006/relationships/diagramLayout" Target="../diagrams/layout1.xml"/><Relationship Id="rId4" Type="http://schemas.openxmlformats.org/officeDocument/2006/relationships/image" Target="../media/image2.png"/><Relationship Id="rId9"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SK-1-img-1" descr="preencoded.png"/>
          <p:cNvPicPr>
            <a:picLocks noChangeAspect="1"/>
          </p:cNvPicPr>
          <p:nvPr/>
        </p:nvPicPr>
        <p:blipFill>
          <a:blip r:embed="rId3"/>
          <a:stretch>
            <a:fillRect/>
          </a:stretch>
        </p:blipFill>
        <p:spPr>
          <a:xfrm>
            <a:off x="0" y="0"/>
            <a:ext cx="12192000" cy="6858000"/>
          </a:xfrm>
          <a:prstGeom prst="rect">
            <a:avLst/>
          </a:prstGeom>
        </p:spPr>
      </p:pic>
      <p:pic>
        <p:nvPicPr>
          <p:cNvPr id="3" name="SK-1-img-2" descr="preencoded.png"/>
          <p:cNvPicPr>
            <a:picLocks noChangeAspect="1"/>
          </p:cNvPicPr>
          <p:nvPr/>
        </p:nvPicPr>
        <p:blipFill>
          <a:blip r:embed="rId4"/>
          <a:stretch>
            <a:fillRect/>
          </a:stretch>
        </p:blipFill>
        <p:spPr>
          <a:xfrm>
            <a:off x="-27698" y="0"/>
            <a:ext cx="12256921" cy="6858000"/>
          </a:xfrm>
          <a:prstGeom prst="rect">
            <a:avLst/>
          </a:prstGeom>
        </p:spPr>
      </p:pic>
      <p:pic>
        <p:nvPicPr>
          <p:cNvPr id="4" name="SK-1-img-3" descr="preencoded.png"/>
          <p:cNvPicPr>
            <a:picLocks noChangeAspect="1"/>
          </p:cNvPicPr>
          <p:nvPr/>
        </p:nvPicPr>
        <p:blipFill>
          <a:blip r:embed="rId5"/>
          <a:stretch>
            <a:fillRect/>
          </a:stretch>
        </p:blipFill>
        <p:spPr>
          <a:xfrm>
            <a:off x="609600" y="285498"/>
            <a:ext cx="228600" cy="38100"/>
          </a:xfrm>
          <a:prstGeom prst="rect">
            <a:avLst/>
          </a:prstGeom>
        </p:spPr>
      </p:pic>
      <p:pic>
        <p:nvPicPr>
          <p:cNvPr id="5" name="SK-1-img-4" descr="preencoded.png"/>
          <p:cNvPicPr>
            <a:picLocks noChangeAspect="1"/>
          </p:cNvPicPr>
          <p:nvPr/>
        </p:nvPicPr>
        <p:blipFill>
          <a:blip r:embed="rId6"/>
          <a:stretch>
            <a:fillRect/>
          </a:stretch>
        </p:blipFill>
        <p:spPr>
          <a:xfrm>
            <a:off x="609599" y="1701374"/>
            <a:ext cx="357188" cy="289471"/>
          </a:xfrm>
          <a:prstGeom prst="rect">
            <a:avLst/>
          </a:prstGeom>
        </p:spPr>
      </p:pic>
      <p:pic>
        <p:nvPicPr>
          <p:cNvPr id="6" name="SK-1-img-5" descr="preencoded.png"/>
          <p:cNvPicPr>
            <a:picLocks noChangeAspect="1"/>
          </p:cNvPicPr>
          <p:nvPr/>
        </p:nvPicPr>
        <p:blipFill>
          <a:blip r:embed="rId7"/>
          <a:stretch>
            <a:fillRect/>
          </a:stretch>
        </p:blipFill>
        <p:spPr>
          <a:xfrm>
            <a:off x="609599" y="2290287"/>
            <a:ext cx="304800" cy="190500"/>
          </a:xfrm>
          <a:prstGeom prst="rect">
            <a:avLst/>
          </a:prstGeom>
        </p:spPr>
      </p:pic>
      <p:pic>
        <p:nvPicPr>
          <p:cNvPr id="7" name="SK-1-img-6" descr="preencoded.png"/>
          <p:cNvPicPr>
            <a:picLocks noChangeAspect="1"/>
          </p:cNvPicPr>
          <p:nvPr/>
        </p:nvPicPr>
        <p:blipFill>
          <a:blip r:embed="rId8"/>
          <a:stretch>
            <a:fillRect/>
          </a:stretch>
        </p:blipFill>
        <p:spPr>
          <a:xfrm>
            <a:off x="609599" y="2728437"/>
            <a:ext cx="304800" cy="190500"/>
          </a:xfrm>
          <a:prstGeom prst="rect">
            <a:avLst/>
          </a:prstGeom>
        </p:spPr>
      </p:pic>
      <p:pic>
        <p:nvPicPr>
          <p:cNvPr id="8" name="SK-1-img-7" descr="preencoded.png"/>
          <p:cNvPicPr>
            <a:picLocks noChangeAspect="1"/>
          </p:cNvPicPr>
          <p:nvPr/>
        </p:nvPicPr>
        <p:blipFill>
          <a:blip r:embed="rId9"/>
          <a:stretch>
            <a:fillRect/>
          </a:stretch>
        </p:blipFill>
        <p:spPr>
          <a:xfrm>
            <a:off x="609599" y="3166587"/>
            <a:ext cx="304800" cy="190500"/>
          </a:xfrm>
          <a:prstGeom prst="rect">
            <a:avLst/>
          </a:prstGeom>
        </p:spPr>
      </p:pic>
      <p:pic>
        <p:nvPicPr>
          <p:cNvPr id="9" name="SK-1-img-8" descr="preencoded.png"/>
          <p:cNvPicPr>
            <a:picLocks noChangeAspect="1"/>
          </p:cNvPicPr>
          <p:nvPr/>
        </p:nvPicPr>
        <p:blipFill>
          <a:blip r:embed="rId10"/>
          <a:stretch>
            <a:fillRect/>
          </a:stretch>
        </p:blipFill>
        <p:spPr>
          <a:xfrm>
            <a:off x="609599" y="3604737"/>
            <a:ext cx="304800" cy="190500"/>
          </a:xfrm>
          <a:prstGeom prst="rect">
            <a:avLst/>
          </a:prstGeom>
        </p:spPr>
      </p:pic>
      <p:pic>
        <p:nvPicPr>
          <p:cNvPr id="10" name="SK-1-img-9" descr="preencoded.png"/>
          <p:cNvPicPr>
            <a:picLocks noChangeAspect="1"/>
          </p:cNvPicPr>
          <p:nvPr/>
        </p:nvPicPr>
        <p:blipFill>
          <a:blip r:embed="rId11"/>
          <a:stretch>
            <a:fillRect/>
          </a:stretch>
        </p:blipFill>
        <p:spPr>
          <a:xfrm>
            <a:off x="6091238" y="2000250"/>
            <a:ext cx="9525" cy="2747963"/>
          </a:xfrm>
          <a:prstGeom prst="rect">
            <a:avLst/>
          </a:prstGeom>
        </p:spPr>
      </p:pic>
      <p:pic>
        <p:nvPicPr>
          <p:cNvPr id="11" name="SK-1-img-10" descr="preencoded.png"/>
          <p:cNvPicPr>
            <a:picLocks noChangeAspect="1"/>
          </p:cNvPicPr>
          <p:nvPr/>
        </p:nvPicPr>
        <p:blipFill>
          <a:blip r:embed="rId12"/>
          <a:stretch>
            <a:fillRect/>
          </a:stretch>
        </p:blipFill>
        <p:spPr>
          <a:xfrm>
            <a:off x="6557962" y="1661489"/>
            <a:ext cx="357188" cy="289471"/>
          </a:xfrm>
          <a:prstGeom prst="rect">
            <a:avLst/>
          </a:prstGeom>
        </p:spPr>
      </p:pic>
      <p:pic>
        <p:nvPicPr>
          <p:cNvPr id="12" name="SK-1-img-11" descr="preencoded.png"/>
          <p:cNvPicPr>
            <a:picLocks noChangeAspect="1"/>
          </p:cNvPicPr>
          <p:nvPr/>
        </p:nvPicPr>
        <p:blipFill>
          <a:blip r:embed="rId13"/>
          <a:stretch>
            <a:fillRect/>
          </a:stretch>
        </p:blipFill>
        <p:spPr>
          <a:xfrm>
            <a:off x="6557962" y="2296836"/>
            <a:ext cx="304800" cy="190500"/>
          </a:xfrm>
          <a:prstGeom prst="rect">
            <a:avLst/>
          </a:prstGeom>
        </p:spPr>
      </p:pic>
      <p:pic>
        <p:nvPicPr>
          <p:cNvPr id="13" name="SK-1-img-12" descr="preencoded.png"/>
          <p:cNvPicPr>
            <a:picLocks noChangeAspect="1"/>
          </p:cNvPicPr>
          <p:nvPr/>
        </p:nvPicPr>
        <p:blipFill>
          <a:blip r:embed="rId14"/>
          <a:stretch>
            <a:fillRect/>
          </a:stretch>
        </p:blipFill>
        <p:spPr>
          <a:xfrm>
            <a:off x="6557962" y="2734986"/>
            <a:ext cx="304800" cy="190500"/>
          </a:xfrm>
          <a:prstGeom prst="rect">
            <a:avLst/>
          </a:prstGeom>
        </p:spPr>
      </p:pic>
      <p:pic>
        <p:nvPicPr>
          <p:cNvPr id="14" name="SK-1-img-13" descr="preencoded.png"/>
          <p:cNvPicPr>
            <a:picLocks noChangeAspect="1"/>
          </p:cNvPicPr>
          <p:nvPr/>
        </p:nvPicPr>
        <p:blipFill>
          <a:blip r:embed="rId15"/>
          <a:stretch>
            <a:fillRect/>
          </a:stretch>
        </p:blipFill>
        <p:spPr>
          <a:xfrm>
            <a:off x="6557962" y="3173136"/>
            <a:ext cx="304800" cy="190500"/>
          </a:xfrm>
          <a:prstGeom prst="rect">
            <a:avLst/>
          </a:prstGeom>
        </p:spPr>
      </p:pic>
      <p:pic>
        <p:nvPicPr>
          <p:cNvPr id="15" name="SK-1-img-14" descr="preencoded.png"/>
          <p:cNvPicPr>
            <a:picLocks noChangeAspect="1"/>
          </p:cNvPicPr>
          <p:nvPr/>
        </p:nvPicPr>
        <p:blipFill>
          <a:blip r:embed="rId16"/>
          <a:stretch>
            <a:fillRect/>
          </a:stretch>
        </p:blipFill>
        <p:spPr>
          <a:xfrm>
            <a:off x="627899" y="5097642"/>
            <a:ext cx="10945727" cy="1291374"/>
          </a:xfrm>
          <a:prstGeom prst="rect">
            <a:avLst/>
          </a:prstGeom>
        </p:spPr>
      </p:pic>
      <p:sp>
        <p:nvSpPr>
          <p:cNvPr id="16" name="SK-1-text-15"/>
          <p:cNvSpPr/>
          <p:nvPr/>
        </p:nvSpPr>
        <p:spPr>
          <a:xfrm>
            <a:off x="952500" y="204535"/>
            <a:ext cx="2956560" cy="200025"/>
          </a:xfrm>
          <a:prstGeom prst="rect">
            <a:avLst/>
          </a:prstGeom>
          <a:noFill/>
          <a:ln/>
        </p:spPr>
        <p:txBody>
          <a:bodyPr vert="horz" wrap="square" lIns="0" tIns="0" rIns="0" bIns="0" rtlCol="0" anchor="ctr"/>
          <a:lstStyle/>
          <a:p>
            <a:pPr marL="0" indent="0">
              <a:lnSpc>
                <a:spcPts val="1575"/>
              </a:lnSpc>
              <a:buNone/>
            </a:pPr>
            <a:r>
              <a:rPr lang="en-US" sz="1050" b="1" kern="0" spc="84" dirty="0">
                <a:solidFill>
                  <a:srgbClr val="2563EB"/>
                </a:solidFill>
                <a:latin typeface="Inter" pitchFamily="34" charset="0"/>
                <a:ea typeface="Inter" pitchFamily="34" charset="-122"/>
                <a:cs typeface="Inter" pitchFamily="34" charset="-120"/>
              </a:rPr>
              <a:t>BRIEFING</a:t>
            </a:r>
            <a:endParaRPr lang="en-US" sz="1050" dirty="0"/>
          </a:p>
        </p:txBody>
      </p:sp>
      <p:sp>
        <p:nvSpPr>
          <p:cNvPr id="17" name="SK-1-text-16"/>
          <p:cNvSpPr/>
          <p:nvPr/>
        </p:nvSpPr>
        <p:spPr>
          <a:xfrm>
            <a:off x="609601" y="297999"/>
            <a:ext cx="11582400" cy="542925"/>
          </a:xfrm>
          <a:prstGeom prst="rect">
            <a:avLst/>
          </a:prstGeom>
          <a:noFill/>
          <a:ln/>
        </p:spPr>
        <p:txBody>
          <a:bodyPr vert="horz" wrap="square" lIns="0" tIns="0" rIns="0" bIns="0" rtlCol="0" anchor="ctr"/>
          <a:lstStyle/>
          <a:p>
            <a:pPr marL="0" indent="0">
              <a:lnSpc>
                <a:spcPts val="4275"/>
              </a:lnSpc>
              <a:buNone/>
            </a:pPr>
            <a:r>
              <a:rPr lang="en-US" sz="2400" b="1" kern="0" spc="-46" dirty="0">
                <a:solidFill>
                  <a:srgbClr val="111827"/>
                </a:solidFill>
              </a:rPr>
              <a:t>Enterprise architecture governance relies on tacit expert judgement.</a:t>
            </a:r>
            <a:endParaRPr lang="en-US" sz="2400" dirty="0"/>
          </a:p>
        </p:txBody>
      </p:sp>
      <p:sp>
        <p:nvSpPr>
          <p:cNvPr id="18" name="SK-1-text-17"/>
          <p:cNvSpPr/>
          <p:nvPr/>
        </p:nvSpPr>
        <p:spPr>
          <a:xfrm>
            <a:off x="1028699" y="1621751"/>
            <a:ext cx="6515100" cy="428625"/>
          </a:xfrm>
          <a:prstGeom prst="rect">
            <a:avLst/>
          </a:prstGeom>
          <a:noFill/>
          <a:ln/>
        </p:spPr>
        <p:txBody>
          <a:bodyPr vert="horz" wrap="square" lIns="0" tIns="0" rIns="0" bIns="0" rtlCol="0" anchor="ctr"/>
          <a:lstStyle/>
          <a:p>
            <a:pPr marL="0" indent="0">
              <a:lnSpc>
                <a:spcPts val="3375"/>
              </a:lnSpc>
              <a:buNone/>
            </a:pPr>
            <a:r>
              <a:rPr lang="en-US" sz="2250" b="1" dirty="0">
                <a:solidFill>
                  <a:srgbClr val="111827"/>
                </a:solidFill>
              </a:rPr>
              <a:t>Explicit Governance</a:t>
            </a:r>
            <a:endParaRPr lang="en-US" sz="2250" dirty="0"/>
          </a:p>
        </p:txBody>
      </p:sp>
      <p:sp>
        <p:nvSpPr>
          <p:cNvPr id="19" name="SK-1-text-18"/>
          <p:cNvSpPr/>
          <p:nvPr/>
        </p:nvSpPr>
        <p:spPr>
          <a:xfrm>
            <a:off x="1028699" y="2242662"/>
            <a:ext cx="7086600" cy="285750"/>
          </a:xfrm>
          <a:prstGeom prst="rect">
            <a:avLst/>
          </a:prstGeom>
          <a:noFill/>
          <a:ln/>
        </p:spPr>
        <p:txBody>
          <a:bodyPr vert="horz" wrap="square" lIns="0" tIns="0" rIns="0" bIns="0" rtlCol="0" anchor="ctr"/>
          <a:lstStyle/>
          <a:p>
            <a:pPr marL="0" indent="0" algn="l">
              <a:lnSpc>
                <a:spcPts val="2250"/>
              </a:lnSpc>
              <a:buNone/>
            </a:pPr>
            <a:r>
              <a:rPr lang="en-US" sz="1500" dirty="0">
                <a:solidFill>
                  <a:schemeClr val="bg2">
                    <a:lumMod val="25000"/>
                  </a:schemeClr>
                </a:solidFill>
                <a:latin typeface="Inter" pitchFamily="34" charset="0"/>
                <a:ea typeface="Inter" pitchFamily="34" charset="-122"/>
                <a:cs typeface="Inter" pitchFamily="34" charset="-120"/>
              </a:rPr>
              <a:t>Documented Policies &amp; Standards</a:t>
            </a:r>
            <a:endParaRPr lang="en-US" sz="1500" dirty="0">
              <a:solidFill>
                <a:schemeClr val="bg2">
                  <a:lumMod val="25000"/>
                </a:schemeClr>
              </a:solidFill>
            </a:endParaRPr>
          </a:p>
        </p:txBody>
      </p:sp>
      <p:sp>
        <p:nvSpPr>
          <p:cNvPr id="20" name="SK-1-text-19"/>
          <p:cNvSpPr/>
          <p:nvPr/>
        </p:nvSpPr>
        <p:spPr>
          <a:xfrm>
            <a:off x="1028699" y="2680812"/>
            <a:ext cx="5024438" cy="285750"/>
          </a:xfrm>
          <a:prstGeom prst="rect">
            <a:avLst/>
          </a:prstGeom>
          <a:noFill/>
          <a:ln/>
        </p:spPr>
        <p:txBody>
          <a:bodyPr vert="horz" wrap="square" lIns="0" tIns="0" rIns="0" bIns="0" rtlCol="0" anchor="ctr"/>
          <a:lstStyle/>
          <a:p>
            <a:pPr marL="0" indent="0" algn="l">
              <a:lnSpc>
                <a:spcPts val="2250"/>
              </a:lnSpc>
              <a:buNone/>
            </a:pPr>
            <a:r>
              <a:rPr lang="en-US" sz="1500" dirty="0">
                <a:solidFill>
                  <a:schemeClr val="bg2">
                    <a:lumMod val="25000"/>
                  </a:schemeClr>
                </a:solidFill>
                <a:latin typeface="Inter" pitchFamily="34" charset="0"/>
                <a:ea typeface="Inter" pitchFamily="34" charset="-122"/>
                <a:cs typeface="Inter" pitchFamily="34" charset="-120"/>
              </a:rPr>
              <a:t>Compliance Checklists</a:t>
            </a:r>
            <a:endParaRPr lang="en-US" sz="1500" dirty="0">
              <a:solidFill>
                <a:schemeClr val="bg2">
                  <a:lumMod val="25000"/>
                </a:schemeClr>
              </a:solidFill>
            </a:endParaRPr>
          </a:p>
        </p:txBody>
      </p:sp>
      <p:sp>
        <p:nvSpPr>
          <p:cNvPr id="21" name="SK-1-text-20"/>
          <p:cNvSpPr/>
          <p:nvPr/>
        </p:nvSpPr>
        <p:spPr>
          <a:xfrm>
            <a:off x="1028699" y="3118962"/>
            <a:ext cx="5257800" cy="285750"/>
          </a:xfrm>
          <a:prstGeom prst="rect">
            <a:avLst/>
          </a:prstGeom>
          <a:noFill/>
          <a:ln/>
        </p:spPr>
        <p:txBody>
          <a:bodyPr vert="horz" wrap="square" lIns="0" tIns="0" rIns="0" bIns="0" rtlCol="0" anchor="ctr"/>
          <a:lstStyle/>
          <a:p>
            <a:pPr marL="0" indent="0" algn="l">
              <a:lnSpc>
                <a:spcPts val="2250"/>
              </a:lnSpc>
              <a:buNone/>
            </a:pPr>
            <a:r>
              <a:rPr lang="en-US" sz="1500" dirty="0">
                <a:solidFill>
                  <a:schemeClr val="bg2">
                    <a:lumMod val="25000"/>
                  </a:schemeClr>
                </a:solidFill>
                <a:latin typeface="Inter" pitchFamily="34" charset="0"/>
                <a:ea typeface="Inter" pitchFamily="34" charset="-122"/>
                <a:cs typeface="Inter" pitchFamily="34" charset="-120"/>
              </a:rPr>
              <a:t>Fixed Decision Criteria</a:t>
            </a:r>
            <a:endParaRPr lang="en-US" sz="1500" dirty="0">
              <a:solidFill>
                <a:schemeClr val="bg2">
                  <a:lumMod val="25000"/>
                </a:schemeClr>
              </a:solidFill>
            </a:endParaRPr>
          </a:p>
        </p:txBody>
      </p:sp>
      <p:sp>
        <p:nvSpPr>
          <p:cNvPr id="22" name="SK-1-text-21"/>
          <p:cNvSpPr/>
          <p:nvPr/>
        </p:nvSpPr>
        <p:spPr>
          <a:xfrm>
            <a:off x="1028699" y="3557112"/>
            <a:ext cx="5257800" cy="285750"/>
          </a:xfrm>
          <a:prstGeom prst="rect">
            <a:avLst/>
          </a:prstGeom>
          <a:noFill/>
          <a:ln/>
        </p:spPr>
        <p:txBody>
          <a:bodyPr vert="horz" wrap="square" lIns="0" tIns="0" rIns="0" bIns="0" rtlCol="0" anchor="ctr"/>
          <a:lstStyle/>
          <a:p>
            <a:pPr marL="0" indent="0" algn="l">
              <a:lnSpc>
                <a:spcPts val="2250"/>
              </a:lnSpc>
              <a:buNone/>
            </a:pPr>
            <a:r>
              <a:rPr lang="en-US" sz="1500" dirty="0">
                <a:solidFill>
                  <a:schemeClr val="bg2">
                    <a:lumMod val="25000"/>
                  </a:schemeClr>
                </a:solidFill>
                <a:latin typeface="Inter" pitchFamily="34" charset="0"/>
                <a:ea typeface="Inter" pitchFamily="34" charset="-122"/>
                <a:cs typeface="Inter" pitchFamily="34" charset="-120"/>
              </a:rPr>
              <a:t>Integrated Artifacts</a:t>
            </a:r>
            <a:endParaRPr lang="en-US" sz="1500" dirty="0">
              <a:solidFill>
                <a:schemeClr val="bg2">
                  <a:lumMod val="25000"/>
                </a:schemeClr>
              </a:solidFill>
            </a:endParaRPr>
          </a:p>
        </p:txBody>
      </p:sp>
      <p:sp>
        <p:nvSpPr>
          <p:cNvPr id="23" name="SK-1-text-22"/>
          <p:cNvSpPr/>
          <p:nvPr/>
        </p:nvSpPr>
        <p:spPr>
          <a:xfrm>
            <a:off x="7067549" y="1591986"/>
            <a:ext cx="5124450" cy="428625"/>
          </a:xfrm>
          <a:prstGeom prst="rect">
            <a:avLst/>
          </a:prstGeom>
          <a:noFill/>
          <a:ln/>
        </p:spPr>
        <p:txBody>
          <a:bodyPr vert="horz" wrap="square" lIns="0" tIns="0" rIns="0" bIns="0" rtlCol="0" anchor="ctr"/>
          <a:lstStyle/>
          <a:p>
            <a:pPr marL="0" indent="0">
              <a:lnSpc>
                <a:spcPts val="3375"/>
              </a:lnSpc>
              <a:buNone/>
            </a:pPr>
            <a:r>
              <a:rPr lang="en-US" sz="2250" b="1" dirty="0">
                <a:solidFill>
                  <a:srgbClr val="111827"/>
                </a:solidFill>
              </a:rPr>
              <a:t>Tacit Judgement</a:t>
            </a:r>
            <a:endParaRPr lang="en-US" sz="2250" dirty="0"/>
          </a:p>
        </p:txBody>
      </p:sp>
      <p:sp>
        <p:nvSpPr>
          <p:cNvPr id="24" name="SK-1-text-23"/>
          <p:cNvSpPr/>
          <p:nvPr/>
        </p:nvSpPr>
        <p:spPr>
          <a:xfrm>
            <a:off x="6977062" y="2249211"/>
            <a:ext cx="5214938" cy="285750"/>
          </a:xfrm>
          <a:prstGeom prst="rect">
            <a:avLst/>
          </a:prstGeom>
          <a:noFill/>
          <a:ln/>
        </p:spPr>
        <p:txBody>
          <a:bodyPr vert="horz" wrap="square" lIns="0" tIns="0" rIns="0" bIns="0" rtlCol="0" anchor="ctr"/>
          <a:lstStyle/>
          <a:p>
            <a:pPr marL="0" indent="0" algn="l">
              <a:lnSpc>
                <a:spcPts val="2250"/>
              </a:lnSpc>
              <a:buNone/>
            </a:pPr>
            <a:r>
              <a:rPr lang="en-US" sz="1500" dirty="0">
                <a:solidFill>
                  <a:schemeClr val="bg2">
                    <a:lumMod val="25000"/>
                  </a:schemeClr>
                </a:solidFill>
                <a:latin typeface="Inter" pitchFamily="34" charset="0"/>
                <a:ea typeface="Inter" pitchFamily="34" charset="-122"/>
                <a:cs typeface="Inter" pitchFamily="34" charset="-120"/>
              </a:rPr>
              <a:t>Situational Decision Logic</a:t>
            </a:r>
            <a:endParaRPr lang="en-US" sz="1500" dirty="0">
              <a:solidFill>
                <a:schemeClr val="bg2">
                  <a:lumMod val="25000"/>
                </a:schemeClr>
              </a:solidFill>
            </a:endParaRPr>
          </a:p>
        </p:txBody>
      </p:sp>
      <p:sp>
        <p:nvSpPr>
          <p:cNvPr id="25" name="SK-1-text-24"/>
          <p:cNvSpPr/>
          <p:nvPr/>
        </p:nvSpPr>
        <p:spPr>
          <a:xfrm>
            <a:off x="6977062" y="2687361"/>
            <a:ext cx="5214938" cy="285750"/>
          </a:xfrm>
          <a:prstGeom prst="rect">
            <a:avLst/>
          </a:prstGeom>
          <a:noFill/>
          <a:ln/>
        </p:spPr>
        <p:txBody>
          <a:bodyPr vert="horz" wrap="square" lIns="0" tIns="0" rIns="0" bIns="0" rtlCol="0" anchor="ctr"/>
          <a:lstStyle/>
          <a:p>
            <a:pPr marL="0" indent="0" algn="l">
              <a:lnSpc>
                <a:spcPts val="2250"/>
              </a:lnSpc>
              <a:buNone/>
            </a:pPr>
            <a:r>
              <a:rPr lang="en-US" sz="1500" dirty="0">
                <a:solidFill>
                  <a:schemeClr val="bg2">
                    <a:lumMod val="25000"/>
                  </a:schemeClr>
                </a:solidFill>
                <a:latin typeface="Inter" pitchFamily="34" charset="0"/>
                <a:ea typeface="Inter" pitchFamily="34" charset="-122"/>
                <a:cs typeface="Inter" pitchFamily="34" charset="-120"/>
              </a:rPr>
              <a:t>Undocumented Experience</a:t>
            </a:r>
            <a:endParaRPr lang="en-US" sz="1500" dirty="0">
              <a:solidFill>
                <a:schemeClr val="bg2">
                  <a:lumMod val="25000"/>
                </a:schemeClr>
              </a:solidFill>
            </a:endParaRPr>
          </a:p>
        </p:txBody>
      </p:sp>
      <p:sp>
        <p:nvSpPr>
          <p:cNvPr id="26" name="SK-1-text-25"/>
          <p:cNvSpPr/>
          <p:nvPr/>
        </p:nvSpPr>
        <p:spPr>
          <a:xfrm>
            <a:off x="6977062" y="3125511"/>
            <a:ext cx="5214938" cy="285750"/>
          </a:xfrm>
          <a:prstGeom prst="rect">
            <a:avLst/>
          </a:prstGeom>
          <a:noFill/>
          <a:ln/>
        </p:spPr>
        <p:txBody>
          <a:bodyPr vert="horz" wrap="square" lIns="0" tIns="0" rIns="0" bIns="0" rtlCol="0" anchor="ctr"/>
          <a:lstStyle/>
          <a:p>
            <a:pPr marL="0" indent="0" algn="l">
              <a:lnSpc>
                <a:spcPts val="2250"/>
              </a:lnSpc>
              <a:buNone/>
            </a:pPr>
            <a:r>
              <a:rPr lang="en-US" sz="1500" dirty="0">
                <a:solidFill>
                  <a:schemeClr val="bg2">
                    <a:lumMod val="25000"/>
                  </a:schemeClr>
                </a:solidFill>
                <a:latin typeface="Inter" pitchFamily="34" charset="0"/>
                <a:ea typeface="Inter" pitchFamily="34" charset="-122"/>
                <a:cs typeface="Inter" pitchFamily="34" charset="-120"/>
              </a:rPr>
              <a:t>Fragile &amp; Hard to Transfer</a:t>
            </a:r>
            <a:endParaRPr lang="en-US" sz="1500" dirty="0">
              <a:solidFill>
                <a:schemeClr val="bg2">
                  <a:lumMod val="25000"/>
                </a:schemeClr>
              </a:solidFill>
            </a:endParaRPr>
          </a:p>
        </p:txBody>
      </p:sp>
      <p:sp>
        <p:nvSpPr>
          <p:cNvPr id="27" name="SK-1-text-26"/>
          <p:cNvSpPr/>
          <p:nvPr/>
        </p:nvSpPr>
        <p:spPr>
          <a:xfrm>
            <a:off x="780300" y="5210155"/>
            <a:ext cx="4795838" cy="214313"/>
          </a:xfrm>
          <a:prstGeom prst="rect">
            <a:avLst/>
          </a:prstGeom>
          <a:noFill/>
          <a:ln/>
        </p:spPr>
        <p:txBody>
          <a:bodyPr vert="horz" wrap="square" lIns="0" tIns="0" rIns="0" bIns="0" rtlCol="0" anchor="ctr"/>
          <a:lstStyle/>
          <a:p>
            <a:pPr marL="0" indent="0">
              <a:lnSpc>
                <a:spcPts val="1688"/>
              </a:lnSpc>
              <a:buNone/>
            </a:pPr>
            <a:r>
              <a:rPr lang="en-US" sz="1125" b="1" dirty="0">
                <a:solidFill>
                  <a:srgbClr val="111827"/>
                </a:solidFill>
                <a:latin typeface="Inter" pitchFamily="34" charset="0"/>
                <a:ea typeface="Inter" pitchFamily="34" charset="-122"/>
                <a:cs typeface="Inter" pitchFamily="34" charset="-120"/>
              </a:rPr>
              <a:t>THE GAP</a:t>
            </a:r>
            <a:endParaRPr lang="en-US" sz="1125" dirty="0"/>
          </a:p>
        </p:txBody>
      </p:sp>
      <p:sp>
        <p:nvSpPr>
          <p:cNvPr id="28" name="SK-1-text-27"/>
          <p:cNvSpPr/>
          <p:nvPr/>
        </p:nvSpPr>
        <p:spPr>
          <a:xfrm>
            <a:off x="780299" y="5569866"/>
            <a:ext cx="10270957" cy="600075"/>
          </a:xfrm>
          <a:prstGeom prst="rect">
            <a:avLst/>
          </a:prstGeom>
          <a:noFill/>
          <a:ln/>
        </p:spPr>
        <p:txBody>
          <a:bodyPr vert="horz" wrap="square" lIns="0" tIns="0" rIns="0" bIns="0" rtlCol="0" anchor="ctr"/>
          <a:lstStyle/>
          <a:p>
            <a:pPr marL="0" indent="0">
              <a:lnSpc>
                <a:spcPts val="1575"/>
              </a:lnSpc>
              <a:buNone/>
            </a:pPr>
            <a:endParaRPr lang="en-US" sz="1125" dirty="0">
              <a:solidFill>
                <a:schemeClr val="tx1">
                  <a:lumMod val="50000"/>
                  <a:lumOff val="50000"/>
                </a:schemeClr>
              </a:solidFill>
            </a:endParaRPr>
          </a:p>
        </p:txBody>
      </p:sp>
      <p:pic>
        <p:nvPicPr>
          <p:cNvPr id="36" name="Graphic 35" descr="Close with solid fill">
            <a:extLst>
              <a:ext uri="{FF2B5EF4-FFF2-40B4-BE49-F238E27FC236}">
                <a16:creationId xmlns:a16="http://schemas.microsoft.com/office/drawing/2014/main" id="{607D8EEB-6438-F4E3-3392-3F5AA0B0DE1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956006" y="2353986"/>
            <a:ext cx="914400" cy="914400"/>
          </a:xfrm>
          <a:prstGeom prst="rect">
            <a:avLst/>
          </a:prstGeom>
        </p:spPr>
      </p:pic>
      <p:pic>
        <p:nvPicPr>
          <p:cNvPr id="38" name="Graphic 37" descr="Checkmark with solid fill">
            <a:extLst>
              <a:ext uri="{FF2B5EF4-FFF2-40B4-BE49-F238E27FC236}">
                <a16:creationId xmlns:a16="http://schemas.microsoft.com/office/drawing/2014/main" id="{E6E5B3A3-877A-DB76-CA03-4F93654E523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556459" y="2376701"/>
            <a:ext cx="914400" cy="914400"/>
          </a:xfrm>
          <a:prstGeom prst="rect">
            <a:avLst/>
          </a:prstGeom>
        </p:spPr>
      </p:pic>
      <p:sp>
        <p:nvSpPr>
          <p:cNvPr id="30" name="TextBox 29">
            <a:extLst>
              <a:ext uri="{FF2B5EF4-FFF2-40B4-BE49-F238E27FC236}">
                <a16:creationId xmlns:a16="http://schemas.microsoft.com/office/drawing/2014/main" id="{E87CC485-A72F-0D1F-BDE3-A68D0CB6934D}"/>
              </a:ext>
            </a:extLst>
          </p:cNvPr>
          <p:cNvSpPr txBox="1"/>
          <p:nvPr/>
        </p:nvSpPr>
        <p:spPr>
          <a:xfrm>
            <a:off x="723899" y="5602723"/>
            <a:ext cx="10840201" cy="738664"/>
          </a:xfrm>
          <a:prstGeom prst="rect">
            <a:avLst/>
          </a:prstGeom>
          <a:noFill/>
        </p:spPr>
        <p:txBody>
          <a:bodyPr wrap="square">
            <a:spAutoFit/>
          </a:bodyPr>
          <a:lstStyle/>
          <a:p>
            <a:r>
              <a:rPr lang="en-GB" sz="1400" dirty="0">
                <a:solidFill>
                  <a:schemeClr val="bg1">
                    <a:lumMod val="50000"/>
                  </a:schemeClr>
                </a:solidFill>
                <a:latin typeface="Arial" panose="020B0604020202020204" pitchFamily="34" charset="0"/>
                <a:cs typeface="Arial" panose="020B0604020202020204" pitchFamily="34" charset="0"/>
              </a:rPr>
              <a:t>Existing EA governance tools enforce rules but don't externalise the tacit judgment behind them. The TEAF framework closes that gap by mapping knowledge management techniques onto AI mechanisms (prompt engineering as the tacit externalisation channel, RAG as the explicit channel).</a:t>
            </a:r>
            <a:endParaRPr lang="LID4096" sz="1400" dirty="0">
              <a:solidFill>
                <a:schemeClr val="bg1">
                  <a:lumMod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K-1-img-1" descr="preencoded.png"/>
          <p:cNvPicPr>
            <a:picLocks noChangeAspect="1"/>
          </p:cNvPicPr>
          <p:nvPr/>
        </p:nvPicPr>
        <p:blipFill>
          <a:blip r:embed="rId3"/>
          <a:stretch>
            <a:fillRect/>
          </a:stretch>
        </p:blipFill>
        <p:spPr>
          <a:xfrm>
            <a:off x="0" y="0"/>
            <a:ext cx="12192000" cy="6858000"/>
          </a:xfrm>
          <a:prstGeom prst="rect">
            <a:avLst/>
          </a:prstGeom>
        </p:spPr>
      </p:pic>
      <p:pic>
        <p:nvPicPr>
          <p:cNvPr id="3" name="SK-1-img-2" descr="preencoded.png"/>
          <p:cNvPicPr>
            <a:picLocks noChangeAspect="1"/>
          </p:cNvPicPr>
          <p:nvPr/>
        </p:nvPicPr>
        <p:blipFill>
          <a:blip r:embed="rId4"/>
          <a:stretch>
            <a:fillRect/>
          </a:stretch>
        </p:blipFill>
        <p:spPr>
          <a:xfrm>
            <a:off x="-27698" y="0"/>
            <a:ext cx="12256921" cy="6858000"/>
          </a:xfrm>
          <a:prstGeom prst="rect">
            <a:avLst/>
          </a:prstGeom>
        </p:spPr>
      </p:pic>
      <p:pic>
        <p:nvPicPr>
          <p:cNvPr id="4" name="SK-1-img-3" descr="preencoded.png"/>
          <p:cNvPicPr>
            <a:picLocks noChangeAspect="1"/>
          </p:cNvPicPr>
          <p:nvPr/>
        </p:nvPicPr>
        <p:blipFill>
          <a:blip r:embed="rId5"/>
          <a:stretch>
            <a:fillRect/>
          </a:stretch>
        </p:blipFill>
        <p:spPr>
          <a:xfrm>
            <a:off x="609600" y="285498"/>
            <a:ext cx="228600" cy="38100"/>
          </a:xfrm>
          <a:prstGeom prst="rect">
            <a:avLst/>
          </a:prstGeom>
        </p:spPr>
      </p:pic>
      <p:sp>
        <p:nvSpPr>
          <p:cNvPr id="16" name="SK-1-text-15"/>
          <p:cNvSpPr/>
          <p:nvPr/>
        </p:nvSpPr>
        <p:spPr>
          <a:xfrm>
            <a:off x="952500" y="204535"/>
            <a:ext cx="2956560" cy="200025"/>
          </a:xfrm>
          <a:prstGeom prst="rect">
            <a:avLst/>
          </a:prstGeom>
          <a:noFill/>
          <a:ln/>
        </p:spPr>
        <p:txBody>
          <a:bodyPr vert="horz" wrap="square" lIns="0" tIns="0" rIns="0" bIns="0" rtlCol="0" anchor="ctr"/>
          <a:lstStyle/>
          <a:p>
            <a:pPr marL="0" indent="0">
              <a:lnSpc>
                <a:spcPts val="1575"/>
              </a:lnSpc>
              <a:buNone/>
            </a:pPr>
            <a:r>
              <a:rPr lang="en-US" sz="1050" b="1" kern="0" spc="84" dirty="0">
                <a:solidFill>
                  <a:srgbClr val="2563EB"/>
                </a:solidFill>
                <a:latin typeface="Inter" pitchFamily="34" charset="0"/>
                <a:ea typeface="Inter" pitchFamily="34" charset="-122"/>
                <a:cs typeface="Inter" pitchFamily="34" charset="-120"/>
              </a:rPr>
              <a:t>BRIEFING</a:t>
            </a:r>
            <a:endParaRPr lang="en-US" sz="1050" dirty="0"/>
          </a:p>
        </p:txBody>
      </p:sp>
      <p:sp>
        <p:nvSpPr>
          <p:cNvPr id="17" name="SK-1-text-16"/>
          <p:cNvSpPr/>
          <p:nvPr/>
        </p:nvSpPr>
        <p:spPr>
          <a:xfrm>
            <a:off x="609601" y="297999"/>
            <a:ext cx="11582400" cy="542925"/>
          </a:xfrm>
          <a:prstGeom prst="rect">
            <a:avLst/>
          </a:prstGeom>
          <a:noFill/>
          <a:ln/>
        </p:spPr>
        <p:txBody>
          <a:bodyPr vert="horz" wrap="square" lIns="0" tIns="0" rIns="0" bIns="0" rtlCol="0" anchor="ctr"/>
          <a:lstStyle/>
          <a:p>
            <a:pPr marL="0" indent="0">
              <a:lnSpc>
                <a:spcPts val="4275"/>
              </a:lnSpc>
              <a:buNone/>
            </a:pPr>
            <a:r>
              <a:rPr lang="en-US" sz="2400" b="1" kern="0" spc="-46" dirty="0">
                <a:solidFill>
                  <a:srgbClr val="111827"/>
                </a:solidFill>
              </a:rPr>
              <a:t>The SECI Model</a:t>
            </a:r>
            <a:endParaRPr lang="en-US" sz="2400" dirty="0"/>
          </a:p>
        </p:txBody>
      </p:sp>
      <p:pic>
        <p:nvPicPr>
          <p:cNvPr id="13" name="Picture 12">
            <a:extLst>
              <a:ext uri="{FF2B5EF4-FFF2-40B4-BE49-F238E27FC236}">
                <a16:creationId xmlns:a16="http://schemas.microsoft.com/office/drawing/2014/main" id="{075FD2AD-28A1-E4C7-AFD1-4EC909F900F8}"/>
              </a:ext>
            </a:extLst>
          </p:cNvPr>
          <p:cNvPicPr>
            <a:picLocks noChangeAspect="1"/>
          </p:cNvPicPr>
          <p:nvPr/>
        </p:nvPicPr>
        <p:blipFill>
          <a:blip r:embed="rId6"/>
          <a:stretch>
            <a:fillRect/>
          </a:stretch>
        </p:blipFill>
        <p:spPr>
          <a:xfrm>
            <a:off x="1475083" y="1138923"/>
            <a:ext cx="4867954" cy="4953691"/>
          </a:xfrm>
          <a:prstGeom prst="rect">
            <a:avLst/>
          </a:prstGeom>
        </p:spPr>
      </p:pic>
      <p:sp>
        <p:nvSpPr>
          <p:cNvPr id="14" name="TextBox 13">
            <a:extLst>
              <a:ext uri="{FF2B5EF4-FFF2-40B4-BE49-F238E27FC236}">
                <a16:creationId xmlns:a16="http://schemas.microsoft.com/office/drawing/2014/main" id="{E146AB5C-8798-33BA-B78D-7E491DFB874C}"/>
              </a:ext>
            </a:extLst>
          </p:cNvPr>
          <p:cNvSpPr txBox="1"/>
          <p:nvPr/>
        </p:nvSpPr>
        <p:spPr>
          <a:xfrm>
            <a:off x="7077383" y="3015603"/>
            <a:ext cx="4380271" cy="1200329"/>
          </a:xfrm>
          <a:prstGeom prst="rect">
            <a:avLst/>
          </a:prstGeom>
          <a:noFill/>
        </p:spPr>
        <p:txBody>
          <a:bodyPr wrap="square" rtlCol="0">
            <a:spAutoFit/>
          </a:bodyPr>
          <a:lstStyle/>
          <a:p>
            <a:r>
              <a:rPr lang="de-CH" b="1" dirty="0"/>
              <a:t>SOCIALIZATION</a:t>
            </a:r>
            <a:r>
              <a:rPr lang="de-CH" dirty="0"/>
              <a:t> = Tacit -&gt; Tacit</a:t>
            </a:r>
            <a:br>
              <a:rPr lang="de-CH" dirty="0"/>
            </a:br>
            <a:r>
              <a:rPr lang="de-CH" b="1" dirty="0"/>
              <a:t>EXTERNALIZATION</a:t>
            </a:r>
            <a:r>
              <a:rPr lang="de-CH" dirty="0"/>
              <a:t> = Tacit -&gt; Explicit</a:t>
            </a:r>
            <a:br>
              <a:rPr lang="de-CH" dirty="0"/>
            </a:br>
            <a:r>
              <a:rPr lang="de-CH" b="1" dirty="0"/>
              <a:t>COMBINATION</a:t>
            </a:r>
            <a:r>
              <a:rPr lang="de-CH" dirty="0"/>
              <a:t> = Explicit -&gt; Explicit</a:t>
            </a:r>
            <a:br>
              <a:rPr lang="de-CH" dirty="0"/>
            </a:br>
            <a:r>
              <a:rPr lang="de-CH" b="1" dirty="0"/>
              <a:t>INTERNALIZATION</a:t>
            </a:r>
            <a:r>
              <a:rPr lang="de-CH" dirty="0"/>
              <a:t> = Explicit -&gt; Tacit</a:t>
            </a:r>
            <a:endParaRPr lang="LID4096" dirty="0"/>
          </a:p>
        </p:txBody>
      </p:sp>
    </p:spTree>
    <p:extLst>
      <p:ext uri="{BB962C8B-B14F-4D97-AF65-F5344CB8AC3E}">
        <p14:creationId xmlns:p14="http://schemas.microsoft.com/office/powerpoint/2010/main" val="1543612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K-1-img-1" descr="preencoded.png"/>
          <p:cNvPicPr>
            <a:picLocks noChangeAspect="1"/>
          </p:cNvPicPr>
          <p:nvPr/>
        </p:nvPicPr>
        <p:blipFill>
          <a:blip r:embed="rId3"/>
          <a:stretch>
            <a:fillRect/>
          </a:stretch>
        </p:blipFill>
        <p:spPr>
          <a:xfrm>
            <a:off x="0" y="0"/>
            <a:ext cx="12192000" cy="6858000"/>
          </a:xfrm>
          <a:prstGeom prst="rect">
            <a:avLst/>
          </a:prstGeom>
        </p:spPr>
      </p:pic>
      <p:pic>
        <p:nvPicPr>
          <p:cNvPr id="3" name="SK-1-img-2" descr="preencoded.png"/>
          <p:cNvPicPr>
            <a:picLocks noChangeAspect="1"/>
          </p:cNvPicPr>
          <p:nvPr/>
        </p:nvPicPr>
        <p:blipFill>
          <a:blip r:embed="rId4"/>
          <a:stretch>
            <a:fillRect/>
          </a:stretch>
        </p:blipFill>
        <p:spPr>
          <a:xfrm>
            <a:off x="-64921" y="0"/>
            <a:ext cx="12256921" cy="6858000"/>
          </a:xfrm>
          <a:prstGeom prst="rect">
            <a:avLst/>
          </a:prstGeom>
        </p:spPr>
      </p:pic>
      <p:pic>
        <p:nvPicPr>
          <p:cNvPr id="4" name="SK-1-img-3" descr="preencoded.png"/>
          <p:cNvPicPr>
            <a:picLocks noChangeAspect="1"/>
          </p:cNvPicPr>
          <p:nvPr/>
        </p:nvPicPr>
        <p:blipFill>
          <a:blip r:embed="rId5"/>
          <a:stretch>
            <a:fillRect/>
          </a:stretch>
        </p:blipFill>
        <p:spPr>
          <a:xfrm>
            <a:off x="609600" y="285498"/>
            <a:ext cx="228600" cy="38100"/>
          </a:xfrm>
          <a:prstGeom prst="rect">
            <a:avLst/>
          </a:prstGeom>
        </p:spPr>
      </p:pic>
      <p:sp>
        <p:nvSpPr>
          <p:cNvPr id="16" name="SK-1-text-15"/>
          <p:cNvSpPr/>
          <p:nvPr/>
        </p:nvSpPr>
        <p:spPr>
          <a:xfrm>
            <a:off x="952500" y="204535"/>
            <a:ext cx="2956560" cy="200025"/>
          </a:xfrm>
          <a:prstGeom prst="rect">
            <a:avLst/>
          </a:prstGeom>
          <a:noFill/>
          <a:ln/>
        </p:spPr>
        <p:txBody>
          <a:bodyPr vert="horz" wrap="square" lIns="0" tIns="0" rIns="0" bIns="0" rtlCol="0" anchor="ctr"/>
          <a:lstStyle/>
          <a:p>
            <a:pPr marL="0" indent="0">
              <a:lnSpc>
                <a:spcPts val="1575"/>
              </a:lnSpc>
              <a:buNone/>
            </a:pPr>
            <a:r>
              <a:rPr lang="en-US" sz="1050" b="1" kern="0" spc="84" dirty="0">
                <a:solidFill>
                  <a:srgbClr val="2563EB"/>
                </a:solidFill>
                <a:latin typeface="Inter" pitchFamily="34" charset="0"/>
                <a:ea typeface="Inter" pitchFamily="34" charset="-122"/>
                <a:cs typeface="Inter" pitchFamily="34" charset="-120"/>
              </a:rPr>
              <a:t>BRIEFING</a:t>
            </a:r>
            <a:endParaRPr lang="en-US" sz="1050" dirty="0"/>
          </a:p>
        </p:txBody>
      </p:sp>
      <p:sp>
        <p:nvSpPr>
          <p:cNvPr id="17" name="SK-1-text-16"/>
          <p:cNvSpPr/>
          <p:nvPr/>
        </p:nvSpPr>
        <p:spPr>
          <a:xfrm>
            <a:off x="609601" y="297999"/>
            <a:ext cx="11582400" cy="542925"/>
          </a:xfrm>
          <a:prstGeom prst="rect">
            <a:avLst/>
          </a:prstGeom>
          <a:noFill/>
          <a:ln/>
        </p:spPr>
        <p:txBody>
          <a:bodyPr vert="horz" wrap="square" lIns="0" tIns="0" rIns="0" bIns="0" rtlCol="0" anchor="ctr"/>
          <a:lstStyle/>
          <a:p>
            <a:pPr marL="0" indent="0">
              <a:lnSpc>
                <a:spcPts val="4275"/>
              </a:lnSpc>
              <a:buNone/>
            </a:pPr>
            <a:r>
              <a:rPr lang="en-US" sz="2400" b="1" kern="0" spc="-46" dirty="0">
                <a:solidFill>
                  <a:srgbClr val="111827"/>
                </a:solidFill>
              </a:rPr>
              <a:t>The SECI Model</a:t>
            </a:r>
            <a:endParaRPr lang="en-US" sz="2400" dirty="0"/>
          </a:p>
        </p:txBody>
      </p:sp>
      <p:pic>
        <p:nvPicPr>
          <p:cNvPr id="6" name="Graphic 5" descr="Back with solid fill">
            <a:extLst>
              <a:ext uri="{FF2B5EF4-FFF2-40B4-BE49-F238E27FC236}">
                <a16:creationId xmlns:a16="http://schemas.microsoft.com/office/drawing/2014/main" id="{EB00278F-2545-EF6E-7F7E-99FC9F0DA4A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3047690">
            <a:off x="7933769" y="42545"/>
            <a:ext cx="1916422" cy="1916422"/>
          </a:xfrm>
          <a:prstGeom prst="rect">
            <a:avLst/>
          </a:prstGeom>
        </p:spPr>
      </p:pic>
      <p:pic>
        <p:nvPicPr>
          <p:cNvPr id="7" name="Graphic 6" descr="Back with solid fill">
            <a:extLst>
              <a:ext uri="{FF2B5EF4-FFF2-40B4-BE49-F238E27FC236}">
                <a16:creationId xmlns:a16="http://schemas.microsoft.com/office/drawing/2014/main" id="{70BCF045-B1AB-2DD4-3F3C-0940631C185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3861572">
            <a:off x="2215951" y="5416715"/>
            <a:ext cx="1916422" cy="1916422"/>
          </a:xfrm>
          <a:prstGeom prst="rect">
            <a:avLst/>
          </a:prstGeom>
        </p:spPr>
      </p:pic>
      <p:sp>
        <p:nvSpPr>
          <p:cNvPr id="10" name="TextBox 9">
            <a:extLst>
              <a:ext uri="{FF2B5EF4-FFF2-40B4-BE49-F238E27FC236}">
                <a16:creationId xmlns:a16="http://schemas.microsoft.com/office/drawing/2014/main" id="{ADE53BC6-E166-6C28-F994-E63690516BE7}"/>
              </a:ext>
            </a:extLst>
          </p:cNvPr>
          <p:cNvSpPr txBox="1"/>
          <p:nvPr/>
        </p:nvSpPr>
        <p:spPr>
          <a:xfrm>
            <a:off x="154089" y="5176137"/>
            <a:ext cx="2193943" cy="1477328"/>
          </a:xfrm>
          <a:prstGeom prst="rect">
            <a:avLst/>
          </a:prstGeom>
          <a:noFill/>
        </p:spPr>
        <p:txBody>
          <a:bodyPr wrap="square" rtlCol="0">
            <a:spAutoFit/>
          </a:bodyPr>
          <a:lstStyle/>
          <a:p>
            <a:r>
              <a:rPr lang="de-CH" dirty="0"/>
              <a:t>STEP 1</a:t>
            </a:r>
            <a:br>
              <a:rPr lang="de-CH" dirty="0"/>
            </a:br>
            <a:r>
              <a:rPr lang="de-CH" dirty="0"/>
              <a:t>Agent extracts tacit knowledge during the conversation with the practitioner.</a:t>
            </a:r>
            <a:endParaRPr lang="LID4096" dirty="0"/>
          </a:p>
        </p:txBody>
      </p:sp>
      <p:sp>
        <p:nvSpPr>
          <p:cNvPr id="11" name="TextBox 10">
            <a:extLst>
              <a:ext uri="{FF2B5EF4-FFF2-40B4-BE49-F238E27FC236}">
                <a16:creationId xmlns:a16="http://schemas.microsoft.com/office/drawing/2014/main" id="{2E543A33-C9EE-BA73-D941-42EFB3FB2FF4}"/>
              </a:ext>
            </a:extLst>
          </p:cNvPr>
          <p:cNvSpPr txBox="1"/>
          <p:nvPr/>
        </p:nvSpPr>
        <p:spPr>
          <a:xfrm>
            <a:off x="9746261" y="123593"/>
            <a:ext cx="2422543" cy="2308324"/>
          </a:xfrm>
          <a:prstGeom prst="rect">
            <a:avLst/>
          </a:prstGeom>
          <a:noFill/>
        </p:spPr>
        <p:txBody>
          <a:bodyPr wrap="square" rtlCol="0">
            <a:spAutoFit/>
          </a:bodyPr>
          <a:lstStyle/>
          <a:p>
            <a:r>
              <a:rPr lang="de-CH" dirty="0"/>
              <a:t>STEP 2</a:t>
            </a:r>
            <a:br>
              <a:rPr lang="de-CH" dirty="0"/>
            </a:br>
            <a:r>
              <a:rPr lang="de-CH" dirty="0"/>
              <a:t>Externalisation of the internalised tacit knowledge into system prompt patches (prompt engineering as the act of externalisation).</a:t>
            </a:r>
            <a:endParaRPr lang="LID4096" dirty="0"/>
          </a:p>
        </p:txBody>
      </p:sp>
      <p:pic>
        <p:nvPicPr>
          <p:cNvPr id="5" name="Picture 4">
            <a:extLst>
              <a:ext uri="{FF2B5EF4-FFF2-40B4-BE49-F238E27FC236}">
                <a16:creationId xmlns:a16="http://schemas.microsoft.com/office/drawing/2014/main" id="{A9B6B3DF-C7BD-20AD-E811-C971CD70B726}"/>
              </a:ext>
            </a:extLst>
          </p:cNvPr>
          <p:cNvPicPr>
            <a:picLocks noChangeAspect="1"/>
          </p:cNvPicPr>
          <p:nvPr/>
        </p:nvPicPr>
        <p:blipFill>
          <a:blip r:embed="rId8"/>
          <a:stretch>
            <a:fillRect/>
          </a:stretch>
        </p:blipFill>
        <p:spPr>
          <a:xfrm>
            <a:off x="3777071" y="1188359"/>
            <a:ext cx="4867954" cy="4953691"/>
          </a:xfrm>
          <a:prstGeom prst="rect">
            <a:avLst/>
          </a:prstGeom>
        </p:spPr>
      </p:pic>
    </p:spTree>
    <p:extLst>
      <p:ext uri="{BB962C8B-B14F-4D97-AF65-F5344CB8AC3E}">
        <p14:creationId xmlns:p14="http://schemas.microsoft.com/office/powerpoint/2010/main" val="1223158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SK-2-img-1" descr="preencoded.png"/>
          <p:cNvPicPr>
            <a:picLocks noChangeAspect="1"/>
          </p:cNvPicPr>
          <p:nvPr/>
        </p:nvPicPr>
        <p:blipFill>
          <a:blip r:embed="rId3"/>
          <a:stretch>
            <a:fillRect/>
          </a:stretch>
        </p:blipFill>
        <p:spPr>
          <a:xfrm>
            <a:off x="0" y="0"/>
            <a:ext cx="12192000" cy="6858000"/>
          </a:xfrm>
          <a:prstGeom prst="rect">
            <a:avLst/>
          </a:prstGeom>
        </p:spPr>
      </p:pic>
      <p:pic>
        <p:nvPicPr>
          <p:cNvPr id="3" name="SK-2-img-2" descr="preencoded.png"/>
          <p:cNvPicPr>
            <a:picLocks noChangeAspect="1"/>
          </p:cNvPicPr>
          <p:nvPr/>
        </p:nvPicPr>
        <p:blipFill>
          <a:blip r:embed="rId4"/>
          <a:stretch>
            <a:fillRect/>
          </a:stretch>
        </p:blipFill>
        <p:spPr>
          <a:xfrm>
            <a:off x="-48125" y="-17742"/>
            <a:ext cx="12308304" cy="6875742"/>
          </a:xfrm>
          <a:prstGeom prst="rect">
            <a:avLst/>
          </a:prstGeom>
        </p:spPr>
      </p:pic>
      <p:pic>
        <p:nvPicPr>
          <p:cNvPr id="4" name="SK-2-img-3" descr="preencoded.png"/>
          <p:cNvPicPr>
            <a:picLocks noChangeAspect="1"/>
          </p:cNvPicPr>
          <p:nvPr/>
        </p:nvPicPr>
        <p:blipFill>
          <a:blip r:embed="rId5"/>
          <a:stretch>
            <a:fillRect/>
          </a:stretch>
        </p:blipFill>
        <p:spPr>
          <a:xfrm>
            <a:off x="609600" y="225341"/>
            <a:ext cx="228600" cy="38100"/>
          </a:xfrm>
          <a:prstGeom prst="rect">
            <a:avLst/>
          </a:prstGeom>
        </p:spPr>
      </p:pic>
      <p:pic>
        <p:nvPicPr>
          <p:cNvPr id="9" name="SK-2-img-8" descr="preencoded.png"/>
          <p:cNvPicPr>
            <a:picLocks noChangeAspect="1"/>
          </p:cNvPicPr>
          <p:nvPr/>
        </p:nvPicPr>
        <p:blipFill>
          <a:blip r:embed="rId6"/>
          <a:stretch>
            <a:fillRect/>
          </a:stretch>
        </p:blipFill>
        <p:spPr>
          <a:xfrm>
            <a:off x="7702033" y="2462506"/>
            <a:ext cx="123527" cy="101054"/>
          </a:xfrm>
          <a:prstGeom prst="rect">
            <a:avLst/>
          </a:prstGeom>
        </p:spPr>
      </p:pic>
      <p:pic>
        <p:nvPicPr>
          <p:cNvPr id="10" name="SK-2-img-9" descr="preencoded.png"/>
          <p:cNvPicPr>
            <a:picLocks noChangeAspect="1"/>
          </p:cNvPicPr>
          <p:nvPr/>
        </p:nvPicPr>
        <p:blipFill>
          <a:blip r:embed="rId7"/>
          <a:stretch>
            <a:fillRect/>
          </a:stretch>
        </p:blipFill>
        <p:spPr>
          <a:xfrm>
            <a:off x="7714981" y="3659096"/>
            <a:ext cx="110579" cy="90339"/>
          </a:xfrm>
          <a:prstGeom prst="rect">
            <a:avLst/>
          </a:prstGeom>
        </p:spPr>
      </p:pic>
      <p:pic>
        <p:nvPicPr>
          <p:cNvPr id="12" name="SK-2-img-11" descr="preencoded.png"/>
          <p:cNvPicPr>
            <a:picLocks noChangeAspect="1"/>
          </p:cNvPicPr>
          <p:nvPr/>
        </p:nvPicPr>
        <p:blipFill>
          <a:blip r:embed="rId8"/>
          <a:stretch>
            <a:fillRect/>
          </a:stretch>
        </p:blipFill>
        <p:spPr>
          <a:xfrm>
            <a:off x="622550" y="5704946"/>
            <a:ext cx="11042066" cy="831091"/>
          </a:xfrm>
          <a:prstGeom prst="rect">
            <a:avLst/>
          </a:prstGeom>
        </p:spPr>
      </p:pic>
      <p:sp>
        <p:nvSpPr>
          <p:cNvPr id="13" name="SK-2-text-12"/>
          <p:cNvSpPr/>
          <p:nvPr/>
        </p:nvSpPr>
        <p:spPr>
          <a:xfrm>
            <a:off x="952500" y="144378"/>
            <a:ext cx="2956560" cy="200025"/>
          </a:xfrm>
          <a:prstGeom prst="rect">
            <a:avLst/>
          </a:prstGeom>
          <a:noFill/>
          <a:ln/>
        </p:spPr>
        <p:txBody>
          <a:bodyPr vert="horz" wrap="square" lIns="0" tIns="0" rIns="0" bIns="0" rtlCol="0" anchor="ctr"/>
          <a:lstStyle/>
          <a:p>
            <a:pPr marL="0" indent="0">
              <a:lnSpc>
                <a:spcPts val="1575"/>
              </a:lnSpc>
              <a:buNone/>
            </a:pPr>
            <a:r>
              <a:rPr lang="en-US" sz="1050" b="1" kern="0" spc="84" dirty="0">
                <a:solidFill>
                  <a:srgbClr val="2563EB"/>
                </a:solidFill>
                <a:latin typeface="Inter" pitchFamily="34" charset="0"/>
                <a:ea typeface="Inter" pitchFamily="34" charset="-122"/>
                <a:cs typeface="Inter" pitchFamily="34" charset="-120"/>
              </a:rPr>
              <a:t>BRIEFING</a:t>
            </a:r>
            <a:endParaRPr lang="en-US" sz="1050" dirty="0"/>
          </a:p>
        </p:txBody>
      </p:sp>
      <p:sp>
        <p:nvSpPr>
          <p:cNvPr id="14" name="SK-2-text-13"/>
          <p:cNvSpPr/>
          <p:nvPr/>
        </p:nvSpPr>
        <p:spPr>
          <a:xfrm>
            <a:off x="604408" y="256297"/>
            <a:ext cx="11582400" cy="542925"/>
          </a:xfrm>
          <a:prstGeom prst="rect">
            <a:avLst/>
          </a:prstGeom>
          <a:noFill/>
          <a:ln/>
        </p:spPr>
        <p:txBody>
          <a:bodyPr vert="horz" wrap="square" lIns="0" tIns="0" rIns="0" bIns="0" rtlCol="0" anchor="ctr"/>
          <a:lstStyle/>
          <a:p>
            <a:pPr marL="0" indent="0">
              <a:lnSpc>
                <a:spcPts val="4275"/>
              </a:lnSpc>
              <a:buNone/>
            </a:pPr>
            <a:r>
              <a:rPr lang="en-US" sz="2400" b="1" kern="0" spc="-46" dirty="0">
                <a:solidFill>
                  <a:srgbClr val="111827"/>
                </a:solidFill>
              </a:rPr>
              <a:t>Guide the participant by coaching and externalise tacit knowledge at runtime</a:t>
            </a:r>
            <a:endParaRPr lang="en-US" sz="2400" dirty="0"/>
          </a:p>
        </p:txBody>
      </p:sp>
      <p:sp>
        <p:nvSpPr>
          <p:cNvPr id="16" name="SK-2-text-15"/>
          <p:cNvSpPr/>
          <p:nvPr/>
        </p:nvSpPr>
        <p:spPr>
          <a:xfrm>
            <a:off x="7974836" y="1846847"/>
            <a:ext cx="3086431" cy="1215181"/>
          </a:xfrm>
          <a:prstGeom prst="rect">
            <a:avLst/>
          </a:prstGeom>
          <a:noFill/>
          <a:ln/>
        </p:spPr>
        <p:txBody>
          <a:bodyPr vert="horz" wrap="square" lIns="0" tIns="0" rIns="0" bIns="0" rtlCol="0" anchor="ctr"/>
          <a:lstStyle/>
          <a:p>
            <a:pPr marL="0" indent="0" algn="l">
              <a:lnSpc>
                <a:spcPts val="2250"/>
              </a:lnSpc>
              <a:buNone/>
            </a:pPr>
            <a:r>
              <a:rPr lang="en-US" sz="1200" dirty="0">
                <a:solidFill>
                  <a:srgbClr val="111827"/>
                </a:solidFill>
                <a:latin typeface="Arial" panose="020B0604020202020204" pitchFamily="34" charset="0"/>
                <a:ea typeface="Inter" pitchFamily="34" charset="-122"/>
                <a:cs typeface="Arial" panose="020B0604020202020204" pitchFamily="34" charset="0"/>
              </a:rPr>
              <a:t>The coaching agent guides you through domain topics in real-time taking over coaching, facilitating or consulting roles.</a:t>
            </a:r>
            <a:endParaRPr lang="en-US" sz="1200" dirty="0">
              <a:latin typeface="Arial" panose="020B0604020202020204" pitchFamily="34" charset="0"/>
              <a:cs typeface="Arial" panose="020B0604020202020204" pitchFamily="34" charset="0"/>
            </a:endParaRPr>
          </a:p>
        </p:txBody>
      </p:sp>
      <p:sp>
        <p:nvSpPr>
          <p:cNvPr id="17" name="SK-2-text-16"/>
          <p:cNvSpPr/>
          <p:nvPr/>
        </p:nvSpPr>
        <p:spPr>
          <a:xfrm>
            <a:off x="7974836" y="3230471"/>
            <a:ext cx="2699081" cy="857250"/>
          </a:xfrm>
          <a:prstGeom prst="rect">
            <a:avLst/>
          </a:prstGeom>
          <a:noFill/>
          <a:ln/>
        </p:spPr>
        <p:txBody>
          <a:bodyPr vert="horz" wrap="square" lIns="0" tIns="0" rIns="0" bIns="0" rtlCol="0" anchor="ctr"/>
          <a:lstStyle/>
          <a:p>
            <a:pPr marL="0" indent="0" algn="l">
              <a:lnSpc>
                <a:spcPts val="2250"/>
              </a:lnSpc>
              <a:buNone/>
            </a:pPr>
            <a:r>
              <a:rPr lang="en-US" sz="1200" dirty="0">
                <a:solidFill>
                  <a:srgbClr val="111827"/>
                </a:solidFill>
                <a:latin typeface="Arial" panose="020B0604020202020204" pitchFamily="34" charset="0"/>
                <a:ea typeface="Inter" pitchFamily="34" charset="-122"/>
                <a:cs typeface="Arial" panose="020B0604020202020204" pitchFamily="34" charset="0"/>
              </a:rPr>
              <a:t>The coaching agent internalises tacit knowledge at runtime and externalises it towards itself and the domain agent.</a:t>
            </a:r>
            <a:endParaRPr lang="en-US" sz="1200" dirty="0">
              <a:latin typeface="Arial" panose="020B0604020202020204" pitchFamily="34" charset="0"/>
              <a:cs typeface="Arial" panose="020B0604020202020204" pitchFamily="34" charset="0"/>
            </a:endParaRPr>
          </a:p>
        </p:txBody>
      </p:sp>
      <p:sp>
        <p:nvSpPr>
          <p:cNvPr id="18" name="SK-2-text-17"/>
          <p:cNvSpPr/>
          <p:nvPr/>
        </p:nvSpPr>
        <p:spPr>
          <a:xfrm>
            <a:off x="5661239" y="3924002"/>
            <a:ext cx="4108400" cy="731341"/>
          </a:xfrm>
          <a:prstGeom prst="rect">
            <a:avLst/>
          </a:prstGeom>
          <a:noFill/>
          <a:ln/>
        </p:spPr>
        <p:txBody>
          <a:bodyPr vert="horz" wrap="square" lIns="0" tIns="0" rIns="0" bIns="0" rtlCol="0" anchor="ctr"/>
          <a:lstStyle/>
          <a:p>
            <a:pPr marL="0" indent="0">
              <a:lnSpc>
                <a:spcPts val="1680"/>
              </a:lnSpc>
              <a:buNone/>
            </a:pPr>
            <a:endParaRPr lang="en-US" sz="1200" dirty="0"/>
          </a:p>
        </p:txBody>
      </p:sp>
      <p:sp>
        <p:nvSpPr>
          <p:cNvPr id="19" name="SK-2-text-18"/>
          <p:cNvSpPr/>
          <p:nvPr/>
        </p:nvSpPr>
        <p:spPr>
          <a:xfrm>
            <a:off x="838200" y="5739765"/>
            <a:ext cx="4184600" cy="200025"/>
          </a:xfrm>
          <a:prstGeom prst="rect">
            <a:avLst/>
          </a:prstGeom>
          <a:noFill/>
          <a:ln/>
        </p:spPr>
        <p:txBody>
          <a:bodyPr vert="horz" wrap="square" lIns="0" tIns="0" rIns="0" bIns="0" rtlCol="0" anchor="ctr"/>
          <a:lstStyle/>
          <a:p>
            <a:pPr marL="0" indent="0">
              <a:lnSpc>
                <a:spcPts val="1575"/>
              </a:lnSpc>
              <a:buNone/>
            </a:pPr>
            <a:r>
              <a:rPr lang="en-US" sz="1050" b="1" kern="0" spc="42" dirty="0">
                <a:latin typeface="Inter" pitchFamily="34" charset="0"/>
                <a:ea typeface="Inter" pitchFamily="34" charset="-122"/>
                <a:cs typeface="Inter" pitchFamily="34" charset="-120"/>
              </a:rPr>
              <a:t>TWO-AGENT ARCHITECTURE</a:t>
            </a:r>
            <a:endParaRPr lang="en-US" sz="1050" dirty="0"/>
          </a:p>
        </p:txBody>
      </p:sp>
      <p:sp>
        <p:nvSpPr>
          <p:cNvPr id="20" name="SK-2-text-19"/>
          <p:cNvSpPr/>
          <p:nvPr/>
        </p:nvSpPr>
        <p:spPr>
          <a:xfrm>
            <a:off x="838200" y="6016153"/>
            <a:ext cx="2476500" cy="214313"/>
          </a:xfrm>
          <a:prstGeom prst="rect">
            <a:avLst/>
          </a:prstGeom>
          <a:noFill/>
          <a:ln/>
        </p:spPr>
        <p:txBody>
          <a:bodyPr vert="horz" wrap="square" lIns="0" tIns="0" rIns="0" bIns="0" rtlCol="0" anchor="ctr"/>
          <a:lstStyle/>
          <a:p>
            <a:pPr marL="0" indent="0">
              <a:lnSpc>
                <a:spcPts val="1688"/>
              </a:lnSpc>
              <a:buNone/>
            </a:pPr>
            <a:r>
              <a:rPr lang="en-US" sz="1125" b="1" dirty="0">
                <a:solidFill>
                  <a:srgbClr val="111827"/>
                </a:solidFill>
                <a:latin typeface="Inter" pitchFamily="34" charset="0"/>
                <a:ea typeface="Inter" pitchFamily="34" charset="-122"/>
                <a:cs typeface="Inter" pitchFamily="34" charset="-120"/>
              </a:rPr>
              <a:t>Coaching Agent</a:t>
            </a:r>
            <a:endParaRPr lang="en-US" sz="1125" dirty="0"/>
          </a:p>
        </p:txBody>
      </p:sp>
      <p:sp>
        <p:nvSpPr>
          <p:cNvPr id="21" name="SK-2-text-20"/>
          <p:cNvSpPr/>
          <p:nvPr/>
        </p:nvSpPr>
        <p:spPr>
          <a:xfrm>
            <a:off x="838200" y="6198304"/>
            <a:ext cx="3062773" cy="321766"/>
          </a:xfrm>
          <a:prstGeom prst="rect">
            <a:avLst/>
          </a:prstGeom>
          <a:noFill/>
          <a:ln/>
        </p:spPr>
        <p:txBody>
          <a:bodyPr vert="horz" wrap="square" lIns="0" tIns="0" rIns="0" bIns="0" rtlCol="0" anchor="ctr"/>
          <a:lstStyle/>
          <a:p>
            <a:pPr marL="0" indent="0">
              <a:lnSpc>
                <a:spcPts val="1268"/>
              </a:lnSpc>
              <a:buNone/>
            </a:pPr>
            <a:r>
              <a:rPr lang="en-US" sz="975" dirty="0">
                <a:solidFill>
                  <a:srgbClr val="4B5563"/>
                </a:solidFill>
                <a:latin typeface="Inter" pitchFamily="34" charset="0"/>
                <a:ea typeface="Inter" pitchFamily="34" charset="-122"/>
                <a:cs typeface="Inter" pitchFamily="34" charset="-120"/>
              </a:rPr>
              <a:t>Dialogic guidance for EA decision processes.</a:t>
            </a:r>
            <a:endParaRPr lang="en-US" sz="975" dirty="0"/>
          </a:p>
        </p:txBody>
      </p:sp>
      <p:sp>
        <p:nvSpPr>
          <p:cNvPr id="22" name="SK-2-text-21"/>
          <p:cNvSpPr/>
          <p:nvPr/>
        </p:nvSpPr>
        <p:spPr>
          <a:xfrm>
            <a:off x="5941044" y="6010216"/>
            <a:ext cx="3069159" cy="214313"/>
          </a:xfrm>
          <a:prstGeom prst="rect">
            <a:avLst/>
          </a:prstGeom>
          <a:noFill/>
          <a:ln/>
        </p:spPr>
        <p:txBody>
          <a:bodyPr vert="horz" wrap="square" lIns="0" tIns="0" rIns="0" bIns="0" rtlCol="0" anchor="ctr"/>
          <a:lstStyle/>
          <a:p>
            <a:pPr marL="0" indent="0">
              <a:lnSpc>
                <a:spcPts val="1688"/>
              </a:lnSpc>
              <a:buNone/>
            </a:pPr>
            <a:r>
              <a:rPr lang="en-US" sz="1125" b="1" dirty="0">
                <a:solidFill>
                  <a:srgbClr val="111827"/>
                </a:solidFill>
                <a:latin typeface="Inter" pitchFamily="34" charset="0"/>
                <a:ea typeface="Inter" pitchFamily="34" charset="-122"/>
                <a:cs typeface="Inter" pitchFamily="34" charset="-120"/>
              </a:rPr>
              <a:t>Domain Agent</a:t>
            </a:r>
            <a:endParaRPr lang="en-US" sz="1125" dirty="0"/>
          </a:p>
        </p:txBody>
      </p:sp>
      <p:sp>
        <p:nvSpPr>
          <p:cNvPr id="23" name="SK-2-text-22"/>
          <p:cNvSpPr/>
          <p:nvPr/>
        </p:nvSpPr>
        <p:spPr>
          <a:xfrm>
            <a:off x="5941044" y="6197879"/>
            <a:ext cx="2845438" cy="321766"/>
          </a:xfrm>
          <a:prstGeom prst="rect">
            <a:avLst/>
          </a:prstGeom>
          <a:noFill/>
          <a:ln/>
        </p:spPr>
        <p:txBody>
          <a:bodyPr vert="horz" wrap="square" lIns="0" tIns="0" rIns="0" bIns="0" rtlCol="0" anchor="ctr"/>
          <a:lstStyle/>
          <a:p>
            <a:pPr marL="0" indent="0">
              <a:lnSpc>
                <a:spcPts val="1268"/>
              </a:lnSpc>
              <a:buNone/>
            </a:pPr>
            <a:r>
              <a:rPr lang="en-US" sz="975" dirty="0">
                <a:solidFill>
                  <a:srgbClr val="4B5563"/>
                </a:solidFill>
                <a:latin typeface="Inter" pitchFamily="34" charset="0"/>
                <a:ea typeface="Inter" pitchFamily="34" charset="-122"/>
                <a:cs typeface="Inter" pitchFamily="34" charset="-120"/>
              </a:rPr>
              <a:t>Retrieval &amp; anomaly detection across portfolios.</a:t>
            </a:r>
            <a:endParaRPr lang="en-US" sz="975" dirty="0"/>
          </a:p>
        </p:txBody>
      </p:sp>
      <p:graphicFrame>
        <p:nvGraphicFramePr>
          <p:cNvPr id="29" name="Diagram 28">
            <a:extLst>
              <a:ext uri="{FF2B5EF4-FFF2-40B4-BE49-F238E27FC236}">
                <a16:creationId xmlns:a16="http://schemas.microsoft.com/office/drawing/2014/main" id="{9F074FFD-1C02-E95A-5100-5FE231AFEDAC}"/>
              </a:ext>
            </a:extLst>
          </p:cNvPr>
          <p:cNvGraphicFramePr/>
          <p:nvPr>
            <p:extLst>
              <p:ext uri="{D42A27DB-BD31-4B8C-83A1-F6EECF244321}">
                <p14:modId xmlns:p14="http://schemas.microsoft.com/office/powerpoint/2010/main" val="1813384136"/>
              </p:ext>
            </p:extLst>
          </p:nvPr>
        </p:nvGraphicFramePr>
        <p:xfrm>
          <a:off x="941454" y="1034385"/>
          <a:ext cx="5639798" cy="454130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6" name="TextBox 25">
            <a:extLst>
              <a:ext uri="{FF2B5EF4-FFF2-40B4-BE49-F238E27FC236}">
                <a16:creationId xmlns:a16="http://schemas.microsoft.com/office/drawing/2014/main" id="{9C78C258-285F-3006-3573-AF6BFDF2EB05}"/>
              </a:ext>
            </a:extLst>
          </p:cNvPr>
          <p:cNvSpPr txBox="1"/>
          <p:nvPr/>
        </p:nvSpPr>
        <p:spPr>
          <a:xfrm>
            <a:off x="5565689" y="4575058"/>
            <a:ext cx="6103836" cy="415498"/>
          </a:xfrm>
          <a:prstGeom prst="rect">
            <a:avLst/>
          </a:prstGeom>
          <a:noFill/>
        </p:spPr>
        <p:txBody>
          <a:bodyPr wrap="square" rtlCol="0">
            <a:spAutoFit/>
          </a:bodyPr>
          <a:lstStyle/>
          <a:p>
            <a:r>
              <a:rPr lang="en-US" sz="1050" b="1" dirty="0">
                <a:solidFill>
                  <a:srgbClr val="FFFFFF"/>
                </a:solidFill>
                <a:latin typeface="Arial" panose="020B0604020202020204" pitchFamily="34" charset="0"/>
                <a:ea typeface="Inter" pitchFamily="34" charset="-122"/>
                <a:cs typeface="Arial" panose="020B0604020202020204" pitchFamily="34" charset="0"/>
              </a:rPr>
              <a:t>Main Research Contribution:</a:t>
            </a:r>
            <a:r>
              <a:rPr lang="en-US" sz="1050" dirty="0">
                <a:solidFill>
                  <a:srgbClr val="FFFFFF"/>
                </a:solidFill>
                <a:latin typeface="Arial" panose="020B0604020202020204" pitchFamily="34" charset="0"/>
                <a:ea typeface="Inter" pitchFamily="34" charset="-122"/>
                <a:cs typeface="Arial" panose="020B0604020202020204" pitchFamily="34" charset="0"/>
              </a:rPr>
              <a:t> Mapping AI techniques to Knowledge Management mechanism to capture tacit knowledge and making it explicit.</a:t>
            </a:r>
            <a:endParaRPr lang="en-US" sz="105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286</Words>
  <Application>Microsoft Office PowerPoint</Application>
  <PresentationFormat>Widescreen</PresentationFormat>
  <Paragraphs>38</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Inter</vt:lpstr>
      <vt:lpstr>Arial</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Elias Medig</cp:lastModifiedBy>
  <cp:revision>13</cp:revision>
  <dcterms:created xsi:type="dcterms:W3CDTF">2026-07-05T10:29:57Z</dcterms:created>
  <dcterms:modified xsi:type="dcterms:W3CDTF">2026-07-18T11:20:35Z</dcterms:modified>
</cp:coreProperties>
</file>